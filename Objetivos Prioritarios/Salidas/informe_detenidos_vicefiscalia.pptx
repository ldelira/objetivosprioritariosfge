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be960249f3c440cd"/>
    <p:sldId id="258" r:id="Rf839f5012c584ef0"/>
    <p:sldId id="259" r:id="Rfeb9686bd8d34f8b"/>
    <p:sldId id="260" r:id="R76aacb1933454397"/>
    <p:sldId id="261" r:id="R41b079af81094dc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7" d="100"/>
          <a:sy n="97" d="100"/>
        </p:scale>
        <p:origin x="102" y="438"/>
      </p:cViewPr>
      <p:guideLst/>
    </p:cSldViewPr>
  </p:slideViewPr>
  <p:notesTextViewPr>
    <p:cViewPr>
      <p:scale>
        <a:sx n="1" d="1"/>
        <a:sy n="1" d="1"/>
      </p:scale>
      <p:origin x="0" y="0"/>
    </p:cViewPr>
  </p:notesTextViewPr>
  <p:gridSpacing cx="72008" cy="72008"/>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be960249f3c440cd" /><Relationship Type="http://schemas.openxmlformats.org/officeDocument/2006/relationships/slide" Target="/ppt/slides/slide3.xml" Id="Rf839f5012c584ef0" /><Relationship Type="http://schemas.openxmlformats.org/officeDocument/2006/relationships/slide" Target="/ppt/slides/slide4.xml" Id="Rfeb9686bd8d34f8b" /><Relationship Type="http://schemas.openxmlformats.org/officeDocument/2006/relationships/slide" Target="/ppt/slides/slide5.xml" Id="R76aacb1933454397" /><Relationship Type="http://schemas.openxmlformats.org/officeDocument/2006/relationships/slide" Target="/ppt/slides/slide6.xml" Id="R41b079af81094dc8"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068E0D-0952-490C-984D-615FC13D32A0}"/>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p>
        </p:txBody>
      </p:sp>
      <p:sp>
        <p:nvSpPr>
          <p:cNvPr id="3" name="Subtítulo 2">
            <a:extLst>
              <a:ext uri="{FF2B5EF4-FFF2-40B4-BE49-F238E27FC236}">
                <a16:creationId xmlns:a16="http://schemas.microsoft.com/office/drawing/2014/main" id="{A28042A2-A594-4576-8419-AA38E3F95E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4" name="Marcador de fecha 3">
            <a:extLst>
              <a:ext uri="{FF2B5EF4-FFF2-40B4-BE49-F238E27FC236}">
                <a16:creationId xmlns:a16="http://schemas.microsoft.com/office/drawing/2014/main" id="{16E9F637-BE67-4214-9CD9-9B7FB99A2AA8}"/>
              </a:ext>
            </a:extLst>
          </p:cNvPr>
          <p:cNvSpPr>
            <a:spLocks noGrp="1"/>
          </p:cNvSpPr>
          <p:nvPr>
            <p:ph type="dt" sz="half" idx="10"/>
          </p:nvPr>
        </p:nvSpPr>
        <p:spPr/>
        <p:txBody>
          <a:bodyPr/>
          <a:lstStyle/>
          <a:p>
            <a:fld id="{307D56C0-5552-487B-A6EB-780E4AF5235B}" type="datetimeFigureOut">
              <a:rPr lang="es-MX" smtClean="0"/>
              <a:t>12/11/2025</a:t>
            </a:fld>
            <a:endParaRPr lang="es-MX"/>
          </a:p>
        </p:txBody>
      </p:sp>
      <p:sp>
        <p:nvSpPr>
          <p:cNvPr id="5" name="Marcador de pie de página 4">
            <a:extLst>
              <a:ext uri="{FF2B5EF4-FFF2-40B4-BE49-F238E27FC236}">
                <a16:creationId xmlns:a16="http://schemas.microsoft.com/office/drawing/2014/main" id="{A509747B-46B2-42F8-8EAD-E47BA1771EE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524D85E-9A27-4ADD-BEA9-31FD7E5F998F}"/>
              </a:ext>
            </a:extLst>
          </p:cNvPr>
          <p:cNvSpPr>
            <a:spLocks noGrp="1"/>
          </p:cNvSpPr>
          <p:nvPr>
            <p:ph type="sldNum" sz="quarter" idx="12"/>
          </p:nvPr>
        </p:nvSpPr>
        <p:spPr/>
        <p:txBody>
          <a:bodyPr/>
          <a:lstStyle/>
          <a:p>
            <a:fld id="{DA55C1EA-DA40-4D71-81B5-192D430DA679}" type="slidenum">
              <a:rPr lang="es-MX" smtClean="0"/>
              <a:t>‹Nº›</a:t>
            </a:fld>
            <a:endParaRPr lang="es-MX"/>
          </a:p>
        </p:txBody>
      </p:sp>
    </p:spTree>
    <p:extLst>
      <p:ext uri="{BB962C8B-B14F-4D97-AF65-F5344CB8AC3E}">
        <p14:creationId xmlns:p14="http://schemas.microsoft.com/office/powerpoint/2010/main" val="1753984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D36BC4-D232-4B1E-B70D-D91B80D54C93}"/>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10411C83-320C-42BA-98AE-4F4C7BC74060}"/>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03ECA821-FBD6-4501-BBC5-3ED79AE97BF8}"/>
              </a:ext>
            </a:extLst>
          </p:cNvPr>
          <p:cNvSpPr>
            <a:spLocks noGrp="1"/>
          </p:cNvSpPr>
          <p:nvPr>
            <p:ph type="dt" sz="half" idx="10"/>
          </p:nvPr>
        </p:nvSpPr>
        <p:spPr/>
        <p:txBody>
          <a:bodyPr/>
          <a:lstStyle/>
          <a:p>
            <a:fld id="{307D56C0-5552-487B-A6EB-780E4AF5235B}" type="datetimeFigureOut">
              <a:rPr lang="es-MX" smtClean="0"/>
              <a:t>12/11/2025</a:t>
            </a:fld>
            <a:endParaRPr lang="es-MX"/>
          </a:p>
        </p:txBody>
      </p:sp>
      <p:sp>
        <p:nvSpPr>
          <p:cNvPr id="5" name="Marcador de pie de página 4">
            <a:extLst>
              <a:ext uri="{FF2B5EF4-FFF2-40B4-BE49-F238E27FC236}">
                <a16:creationId xmlns:a16="http://schemas.microsoft.com/office/drawing/2014/main" id="{0688DDD8-2BC1-4A85-8104-AEADC9BEAF2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C056E28-5F22-4571-BACF-E2825ECBA7DE}"/>
              </a:ext>
            </a:extLst>
          </p:cNvPr>
          <p:cNvSpPr>
            <a:spLocks noGrp="1"/>
          </p:cNvSpPr>
          <p:nvPr>
            <p:ph type="sldNum" sz="quarter" idx="12"/>
          </p:nvPr>
        </p:nvSpPr>
        <p:spPr/>
        <p:txBody>
          <a:bodyPr/>
          <a:lstStyle/>
          <a:p>
            <a:fld id="{DA55C1EA-DA40-4D71-81B5-192D430DA679}" type="slidenum">
              <a:rPr lang="es-MX" smtClean="0"/>
              <a:t>‹Nº›</a:t>
            </a:fld>
            <a:endParaRPr lang="es-MX"/>
          </a:p>
        </p:txBody>
      </p:sp>
    </p:spTree>
    <p:extLst>
      <p:ext uri="{BB962C8B-B14F-4D97-AF65-F5344CB8AC3E}">
        <p14:creationId xmlns:p14="http://schemas.microsoft.com/office/powerpoint/2010/main" val="3726898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3DB471-9543-4DAB-A219-1659491A9B38}"/>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EE588458-4650-4415-A60D-4DE68764EF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3036DAA6-920D-44DD-88B2-9250DB8C90C7}"/>
              </a:ext>
            </a:extLst>
          </p:cNvPr>
          <p:cNvSpPr>
            <a:spLocks noGrp="1"/>
          </p:cNvSpPr>
          <p:nvPr>
            <p:ph type="dt" sz="half" idx="10"/>
          </p:nvPr>
        </p:nvSpPr>
        <p:spPr/>
        <p:txBody>
          <a:bodyPr/>
          <a:lstStyle/>
          <a:p>
            <a:fld id="{307D56C0-5552-487B-A6EB-780E4AF5235B}" type="datetimeFigureOut">
              <a:rPr lang="es-MX" smtClean="0"/>
              <a:t>12/11/2025</a:t>
            </a:fld>
            <a:endParaRPr lang="es-MX"/>
          </a:p>
        </p:txBody>
      </p:sp>
      <p:sp>
        <p:nvSpPr>
          <p:cNvPr id="5" name="Marcador de pie de página 4">
            <a:extLst>
              <a:ext uri="{FF2B5EF4-FFF2-40B4-BE49-F238E27FC236}">
                <a16:creationId xmlns:a16="http://schemas.microsoft.com/office/drawing/2014/main" id="{D77011E6-707F-44F2-A6BA-B99BFE142BD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23F31E6-90AB-49BC-B85C-E95CC45990F8}"/>
              </a:ext>
            </a:extLst>
          </p:cNvPr>
          <p:cNvSpPr>
            <a:spLocks noGrp="1"/>
          </p:cNvSpPr>
          <p:nvPr>
            <p:ph type="sldNum" sz="quarter" idx="12"/>
          </p:nvPr>
        </p:nvSpPr>
        <p:spPr/>
        <p:txBody>
          <a:bodyPr/>
          <a:lstStyle/>
          <a:p>
            <a:fld id="{DA55C1EA-DA40-4D71-81B5-192D430DA679}" type="slidenum">
              <a:rPr lang="es-MX" smtClean="0"/>
              <a:t>‹Nº›</a:t>
            </a:fld>
            <a:endParaRPr lang="es-MX"/>
          </a:p>
        </p:txBody>
      </p:sp>
    </p:spTree>
    <p:extLst>
      <p:ext uri="{BB962C8B-B14F-4D97-AF65-F5344CB8AC3E}">
        <p14:creationId xmlns:p14="http://schemas.microsoft.com/office/powerpoint/2010/main" val="3753261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B98501-CC3F-4EB2-B6A2-9671F3A97F38}"/>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B5F5ABAD-880A-4399-A013-CF87B862A61E}"/>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5E00D460-9968-4966-84B6-4496DA2EA72F}"/>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5F2F7D60-FE8E-45A1-BBC8-D8252D14C33A}"/>
              </a:ext>
            </a:extLst>
          </p:cNvPr>
          <p:cNvSpPr>
            <a:spLocks noGrp="1"/>
          </p:cNvSpPr>
          <p:nvPr>
            <p:ph type="dt" sz="half" idx="10"/>
          </p:nvPr>
        </p:nvSpPr>
        <p:spPr/>
        <p:txBody>
          <a:bodyPr/>
          <a:lstStyle/>
          <a:p>
            <a:fld id="{307D56C0-5552-487B-A6EB-780E4AF5235B}" type="datetimeFigureOut">
              <a:rPr lang="es-MX" smtClean="0"/>
              <a:t>12/11/2025</a:t>
            </a:fld>
            <a:endParaRPr lang="es-MX"/>
          </a:p>
        </p:txBody>
      </p:sp>
      <p:sp>
        <p:nvSpPr>
          <p:cNvPr id="6" name="Marcador de pie de página 5">
            <a:extLst>
              <a:ext uri="{FF2B5EF4-FFF2-40B4-BE49-F238E27FC236}">
                <a16:creationId xmlns:a16="http://schemas.microsoft.com/office/drawing/2014/main" id="{9E38980B-8E3F-4FCC-95D7-0FCF85B8201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39CF3F2-7270-42CA-9898-48BB8AA9FEE1}"/>
              </a:ext>
            </a:extLst>
          </p:cNvPr>
          <p:cNvSpPr>
            <a:spLocks noGrp="1"/>
          </p:cNvSpPr>
          <p:nvPr>
            <p:ph type="sldNum" sz="quarter" idx="12"/>
          </p:nvPr>
        </p:nvSpPr>
        <p:spPr/>
        <p:txBody>
          <a:bodyPr/>
          <a:lstStyle/>
          <a:p>
            <a:fld id="{DA55C1EA-DA40-4D71-81B5-192D430DA679}" type="slidenum">
              <a:rPr lang="es-MX" smtClean="0"/>
              <a:t>‹Nº›</a:t>
            </a:fld>
            <a:endParaRPr lang="es-MX"/>
          </a:p>
        </p:txBody>
      </p:sp>
    </p:spTree>
    <p:extLst>
      <p:ext uri="{BB962C8B-B14F-4D97-AF65-F5344CB8AC3E}">
        <p14:creationId xmlns:p14="http://schemas.microsoft.com/office/powerpoint/2010/main" val="4276751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F33742-F5ED-47CB-82ED-F2FA0281378D}"/>
              </a:ext>
            </a:extLst>
          </p:cNvPr>
          <p:cNvSpPr>
            <a:spLocks noGrp="1"/>
          </p:cNvSpPr>
          <p:nvPr>
            <p:ph type="title"/>
          </p:nvPr>
        </p:nvSpPr>
        <p:spPr>
          <a:xfrm>
            <a:off x="839788" y="365125"/>
            <a:ext cx="10515600" cy="1325563"/>
          </a:xfrm>
        </p:spPr>
        <p:txBody>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9EB95FE3-EFDF-4B2F-AE71-291C426931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5B2A4686-ED69-40C8-AF49-5975F8402BE0}"/>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07E2B688-8242-4C9E-B392-98F7D90D9A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3D7347F0-1785-46BF-9003-D48CB6ADA4D2}"/>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75354438-23F5-4F16-B30B-597ED06EE829}"/>
              </a:ext>
            </a:extLst>
          </p:cNvPr>
          <p:cNvSpPr>
            <a:spLocks noGrp="1"/>
          </p:cNvSpPr>
          <p:nvPr>
            <p:ph type="dt" sz="half" idx="10"/>
          </p:nvPr>
        </p:nvSpPr>
        <p:spPr/>
        <p:txBody>
          <a:bodyPr/>
          <a:lstStyle/>
          <a:p>
            <a:fld id="{307D56C0-5552-487B-A6EB-780E4AF5235B}" type="datetimeFigureOut">
              <a:rPr lang="es-MX" smtClean="0"/>
              <a:t>12/11/2025</a:t>
            </a:fld>
            <a:endParaRPr lang="es-MX"/>
          </a:p>
        </p:txBody>
      </p:sp>
      <p:sp>
        <p:nvSpPr>
          <p:cNvPr id="8" name="Marcador de pie de página 7">
            <a:extLst>
              <a:ext uri="{FF2B5EF4-FFF2-40B4-BE49-F238E27FC236}">
                <a16:creationId xmlns:a16="http://schemas.microsoft.com/office/drawing/2014/main" id="{4E54B92E-7740-43A3-B3E2-DA805A3A26D1}"/>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6CC8A04-EEAE-4D7C-AD8F-A16C6A8DC398}"/>
              </a:ext>
            </a:extLst>
          </p:cNvPr>
          <p:cNvSpPr>
            <a:spLocks noGrp="1"/>
          </p:cNvSpPr>
          <p:nvPr>
            <p:ph type="sldNum" sz="quarter" idx="12"/>
          </p:nvPr>
        </p:nvSpPr>
        <p:spPr/>
        <p:txBody>
          <a:bodyPr/>
          <a:lstStyle/>
          <a:p>
            <a:fld id="{DA55C1EA-DA40-4D71-81B5-192D430DA679}" type="slidenum">
              <a:rPr lang="es-MX" smtClean="0"/>
              <a:t>‹Nº›</a:t>
            </a:fld>
            <a:endParaRPr lang="es-MX"/>
          </a:p>
        </p:txBody>
      </p:sp>
    </p:spTree>
    <p:extLst>
      <p:ext uri="{BB962C8B-B14F-4D97-AF65-F5344CB8AC3E}">
        <p14:creationId xmlns:p14="http://schemas.microsoft.com/office/powerpoint/2010/main" val="2496326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BA1AF0-5C3C-4D06-BA20-374C22F36E55}"/>
              </a:ext>
            </a:extLst>
          </p:cNvPr>
          <p:cNvSpPr>
            <a:spLocks noGrp="1"/>
          </p:cNvSpPr>
          <p:nvPr>
            <p:ph type="title"/>
          </p:nvPr>
        </p:nvSpPr>
        <p:spPr/>
        <p:txBody>
          <a:bodyPr/>
          <a:lstStyle/>
          <a:p>
            <a:r>
              <a:rPr lang="es-MX"/>
              <a:t>Haz clic para modificar el estilo de título del patrón</a:t>
            </a:r>
          </a:p>
        </p:txBody>
      </p:sp>
      <p:sp>
        <p:nvSpPr>
          <p:cNvPr id="3" name="Marcador de fecha 2">
            <a:extLst>
              <a:ext uri="{FF2B5EF4-FFF2-40B4-BE49-F238E27FC236}">
                <a16:creationId xmlns:a16="http://schemas.microsoft.com/office/drawing/2014/main" id="{D073F745-E61E-463E-89A3-C806F2C1D336}"/>
              </a:ext>
            </a:extLst>
          </p:cNvPr>
          <p:cNvSpPr>
            <a:spLocks noGrp="1"/>
          </p:cNvSpPr>
          <p:nvPr>
            <p:ph type="dt" sz="half" idx="10"/>
          </p:nvPr>
        </p:nvSpPr>
        <p:spPr/>
        <p:txBody>
          <a:bodyPr/>
          <a:lstStyle/>
          <a:p>
            <a:fld id="{307D56C0-5552-487B-A6EB-780E4AF5235B}" type="datetimeFigureOut">
              <a:rPr lang="es-MX" smtClean="0"/>
              <a:t>12/11/2025</a:t>
            </a:fld>
            <a:endParaRPr lang="es-MX"/>
          </a:p>
        </p:txBody>
      </p:sp>
      <p:sp>
        <p:nvSpPr>
          <p:cNvPr id="4" name="Marcador de pie de página 3">
            <a:extLst>
              <a:ext uri="{FF2B5EF4-FFF2-40B4-BE49-F238E27FC236}">
                <a16:creationId xmlns:a16="http://schemas.microsoft.com/office/drawing/2014/main" id="{5361DA35-84CC-4522-A154-00A1001663D9}"/>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50060CE3-1929-4626-8A34-34D5A7CAC328}"/>
              </a:ext>
            </a:extLst>
          </p:cNvPr>
          <p:cNvSpPr>
            <a:spLocks noGrp="1"/>
          </p:cNvSpPr>
          <p:nvPr>
            <p:ph type="sldNum" sz="quarter" idx="12"/>
          </p:nvPr>
        </p:nvSpPr>
        <p:spPr/>
        <p:txBody>
          <a:bodyPr/>
          <a:lstStyle/>
          <a:p>
            <a:fld id="{DA55C1EA-DA40-4D71-81B5-192D430DA679}" type="slidenum">
              <a:rPr lang="es-MX" smtClean="0"/>
              <a:t>‹Nº›</a:t>
            </a:fld>
            <a:endParaRPr lang="es-MX"/>
          </a:p>
        </p:txBody>
      </p:sp>
    </p:spTree>
    <p:extLst>
      <p:ext uri="{BB962C8B-B14F-4D97-AF65-F5344CB8AC3E}">
        <p14:creationId xmlns:p14="http://schemas.microsoft.com/office/powerpoint/2010/main" val="2566102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4F428D5-8AC1-4BD0-8B52-9765A9AADF17}"/>
              </a:ext>
            </a:extLst>
          </p:cNvPr>
          <p:cNvSpPr>
            <a:spLocks noGrp="1"/>
          </p:cNvSpPr>
          <p:nvPr>
            <p:ph type="dt" sz="half" idx="10"/>
          </p:nvPr>
        </p:nvSpPr>
        <p:spPr/>
        <p:txBody>
          <a:bodyPr/>
          <a:lstStyle/>
          <a:p>
            <a:fld id="{307D56C0-5552-487B-A6EB-780E4AF5235B}" type="datetimeFigureOut">
              <a:rPr lang="es-MX" smtClean="0"/>
              <a:t>12/11/2025</a:t>
            </a:fld>
            <a:endParaRPr lang="es-MX"/>
          </a:p>
        </p:txBody>
      </p:sp>
      <p:sp>
        <p:nvSpPr>
          <p:cNvPr id="3" name="Marcador de pie de página 2">
            <a:extLst>
              <a:ext uri="{FF2B5EF4-FFF2-40B4-BE49-F238E27FC236}">
                <a16:creationId xmlns:a16="http://schemas.microsoft.com/office/drawing/2014/main" id="{D5DAFFA5-08C3-4519-88B2-5E4FDBD767C9}"/>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AE18C6C0-E831-4510-AC77-B09CA2A1D862}"/>
              </a:ext>
            </a:extLst>
          </p:cNvPr>
          <p:cNvSpPr>
            <a:spLocks noGrp="1"/>
          </p:cNvSpPr>
          <p:nvPr>
            <p:ph type="sldNum" sz="quarter" idx="12"/>
          </p:nvPr>
        </p:nvSpPr>
        <p:spPr/>
        <p:txBody>
          <a:bodyPr/>
          <a:lstStyle/>
          <a:p>
            <a:fld id="{DA55C1EA-DA40-4D71-81B5-192D430DA679}" type="slidenum">
              <a:rPr lang="es-MX" smtClean="0"/>
              <a:t>‹Nº›</a:t>
            </a:fld>
            <a:endParaRPr lang="es-MX"/>
          </a:p>
        </p:txBody>
      </p:sp>
    </p:spTree>
    <p:extLst>
      <p:ext uri="{BB962C8B-B14F-4D97-AF65-F5344CB8AC3E}">
        <p14:creationId xmlns:p14="http://schemas.microsoft.com/office/powerpoint/2010/main" val="2023965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BC4ADD-FD2A-4E50-AAB9-D306CDA59F89}"/>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666ED3BE-C3F9-4F5E-AFE4-7A22EFD9B1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0DA87FEC-F393-45FA-BA08-8DAD4C59F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C6E0BEE5-AE7B-487D-B8B2-D45BEA31C7FF}"/>
              </a:ext>
            </a:extLst>
          </p:cNvPr>
          <p:cNvSpPr>
            <a:spLocks noGrp="1"/>
          </p:cNvSpPr>
          <p:nvPr>
            <p:ph type="dt" sz="half" idx="10"/>
          </p:nvPr>
        </p:nvSpPr>
        <p:spPr/>
        <p:txBody>
          <a:bodyPr/>
          <a:lstStyle/>
          <a:p>
            <a:fld id="{307D56C0-5552-487B-A6EB-780E4AF5235B}" type="datetimeFigureOut">
              <a:rPr lang="es-MX" smtClean="0"/>
              <a:t>12/11/2025</a:t>
            </a:fld>
            <a:endParaRPr lang="es-MX"/>
          </a:p>
        </p:txBody>
      </p:sp>
      <p:sp>
        <p:nvSpPr>
          <p:cNvPr id="6" name="Marcador de pie de página 5">
            <a:extLst>
              <a:ext uri="{FF2B5EF4-FFF2-40B4-BE49-F238E27FC236}">
                <a16:creationId xmlns:a16="http://schemas.microsoft.com/office/drawing/2014/main" id="{92C24C9B-BE03-4425-9734-DDCF4B2DB33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6ED77873-C295-4051-9470-8B7F5E71272A}"/>
              </a:ext>
            </a:extLst>
          </p:cNvPr>
          <p:cNvSpPr>
            <a:spLocks noGrp="1"/>
          </p:cNvSpPr>
          <p:nvPr>
            <p:ph type="sldNum" sz="quarter" idx="12"/>
          </p:nvPr>
        </p:nvSpPr>
        <p:spPr/>
        <p:txBody>
          <a:bodyPr/>
          <a:lstStyle/>
          <a:p>
            <a:fld id="{DA55C1EA-DA40-4D71-81B5-192D430DA679}" type="slidenum">
              <a:rPr lang="es-MX" smtClean="0"/>
              <a:t>‹Nº›</a:t>
            </a:fld>
            <a:endParaRPr lang="es-MX"/>
          </a:p>
        </p:txBody>
      </p:sp>
    </p:spTree>
    <p:extLst>
      <p:ext uri="{BB962C8B-B14F-4D97-AF65-F5344CB8AC3E}">
        <p14:creationId xmlns:p14="http://schemas.microsoft.com/office/powerpoint/2010/main" val="462332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1EE650-E899-439F-9C8A-57DA0CEFE81A}"/>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225040B0-6DCA-46D1-8002-7552E90BCB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8B9CD1CE-AAEC-4A26-8E1D-026D6D474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7C882B04-48E2-4A50-A4A7-F6C8DC0EB1A7}"/>
              </a:ext>
            </a:extLst>
          </p:cNvPr>
          <p:cNvSpPr>
            <a:spLocks noGrp="1"/>
          </p:cNvSpPr>
          <p:nvPr>
            <p:ph type="dt" sz="half" idx="10"/>
          </p:nvPr>
        </p:nvSpPr>
        <p:spPr/>
        <p:txBody>
          <a:bodyPr/>
          <a:lstStyle/>
          <a:p>
            <a:fld id="{307D56C0-5552-487B-A6EB-780E4AF5235B}" type="datetimeFigureOut">
              <a:rPr lang="es-MX" smtClean="0"/>
              <a:t>12/11/2025</a:t>
            </a:fld>
            <a:endParaRPr lang="es-MX"/>
          </a:p>
        </p:txBody>
      </p:sp>
      <p:sp>
        <p:nvSpPr>
          <p:cNvPr id="6" name="Marcador de pie de página 5">
            <a:extLst>
              <a:ext uri="{FF2B5EF4-FFF2-40B4-BE49-F238E27FC236}">
                <a16:creationId xmlns:a16="http://schemas.microsoft.com/office/drawing/2014/main" id="{EDB75A92-764D-4B80-8935-487723144DA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FF739F9A-827B-432C-A8B7-3FBCA51CE5CA}"/>
              </a:ext>
            </a:extLst>
          </p:cNvPr>
          <p:cNvSpPr>
            <a:spLocks noGrp="1"/>
          </p:cNvSpPr>
          <p:nvPr>
            <p:ph type="sldNum" sz="quarter" idx="12"/>
          </p:nvPr>
        </p:nvSpPr>
        <p:spPr/>
        <p:txBody>
          <a:bodyPr/>
          <a:lstStyle/>
          <a:p>
            <a:fld id="{DA55C1EA-DA40-4D71-81B5-192D430DA679}" type="slidenum">
              <a:rPr lang="es-MX" smtClean="0"/>
              <a:t>‹Nº›</a:t>
            </a:fld>
            <a:endParaRPr lang="es-MX"/>
          </a:p>
        </p:txBody>
      </p:sp>
    </p:spTree>
    <p:extLst>
      <p:ext uri="{BB962C8B-B14F-4D97-AF65-F5344CB8AC3E}">
        <p14:creationId xmlns:p14="http://schemas.microsoft.com/office/powerpoint/2010/main" val="2990328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C992DC-0D4C-4DC9-834A-52EB8DA80486}"/>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68423FEE-537D-46C8-8F78-F48C270ED683}"/>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D1AB50E2-4CAA-4A10-94D4-757207C241A1}"/>
              </a:ext>
            </a:extLst>
          </p:cNvPr>
          <p:cNvSpPr>
            <a:spLocks noGrp="1"/>
          </p:cNvSpPr>
          <p:nvPr>
            <p:ph type="dt" sz="half" idx="10"/>
          </p:nvPr>
        </p:nvSpPr>
        <p:spPr/>
        <p:txBody>
          <a:bodyPr/>
          <a:lstStyle/>
          <a:p>
            <a:fld id="{307D56C0-5552-487B-A6EB-780E4AF5235B}" type="datetimeFigureOut">
              <a:rPr lang="es-MX" smtClean="0"/>
              <a:t>12/11/2025</a:t>
            </a:fld>
            <a:endParaRPr lang="es-MX"/>
          </a:p>
        </p:txBody>
      </p:sp>
      <p:sp>
        <p:nvSpPr>
          <p:cNvPr id="5" name="Marcador de pie de página 4">
            <a:extLst>
              <a:ext uri="{FF2B5EF4-FFF2-40B4-BE49-F238E27FC236}">
                <a16:creationId xmlns:a16="http://schemas.microsoft.com/office/drawing/2014/main" id="{C42ADA2C-E08B-417F-8582-73BEE7970AD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D03DE89-99D0-42F4-A8FE-C3BFCECBAADD}"/>
              </a:ext>
            </a:extLst>
          </p:cNvPr>
          <p:cNvSpPr>
            <a:spLocks noGrp="1"/>
          </p:cNvSpPr>
          <p:nvPr>
            <p:ph type="sldNum" sz="quarter" idx="12"/>
          </p:nvPr>
        </p:nvSpPr>
        <p:spPr/>
        <p:txBody>
          <a:bodyPr/>
          <a:lstStyle/>
          <a:p>
            <a:fld id="{DA55C1EA-DA40-4D71-81B5-192D430DA679}" type="slidenum">
              <a:rPr lang="es-MX" smtClean="0"/>
              <a:t>‹Nº›</a:t>
            </a:fld>
            <a:endParaRPr lang="es-MX"/>
          </a:p>
        </p:txBody>
      </p:sp>
    </p:spTree>
    <p:extLst>
      <p:ext uri="{BB962C8B-B14F-4D97-AF65-F5344CB8AC3E}">
        <p14:creationId xmlns:p14="http://schemas.microsoft.com/office/powerpoint/2010/main" val="3898904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7CE10DB-6392-4A4A-89B7-0D3A6D8ECD1A}"/>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F056D1C7-8969-4AD4-B9D4-4E4715CB3DB2}"/>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34A8914C-A513-49B7-846E-3AC6B88E1BFE}"/>
              </a:ext>
            </a:extLst>
          </p:cNvPr>
          <p:cNvSpPr>
            <a:spLocks noGrp="1"/>
          </p:cNvSpPr>
          <p:nvPr>
            <p:ph type="dt" sz="half" idx="10"/>
          </p:nvPr>
        </p:nvSpPr>
        <p:spPr/>
        <p:txBody>
          <a:bodyPr/>
          <a:lstStyle/>
          <a:p>
            <a:fld id="{307D56C0-5552-487B-A6EB-780E4AF5235B}" type="datetimeFigureOut">
              <a:rPr lang="es-MX" smtClean="0"/>
              <a:t>12/11/2025</a:t>
            </a:fld>
            <a:endParaRPr lang="es-MX"/>
          </a:p>
        </p:txBody>
      </p:sp>
      <p:sp>
        <p:nvSpPr>
          <p:cNvPr id="5" name="Marcador de pie de página 4">
            <a:extLst>
              <a:ext uri="{FF2B5EF4-FFF2-40B4-BE49-F238E27FC236}">
                <a16:creationId xmlns:a16="http://schemas.microsoft.com/office/drawing/2014/main" id="{F5A28E0B-157E-4704-8194-F6AA2729D9D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9685967-B4FB-423A-844A-AB680385E506}"/>
              </a:ext>
            </a:extLst>
          </p:cNvPr>
          <p:cNvSpPr>
            <a:spLocks noGrp="1"/>
          </p:cNvSpPr>
          <p:nvPr>
            <p:ph type="sldNum" sz="quarter" idx="12"/>
          </p:nvPr>
        </p:nvSpPr>
        <p:spPr/>
        <p:txBody>
          <a:bodyPr/>
          <a:lstStyle/>
          <a:p>
            <a:fld id="{DA55C1EA-DA40-4D71-81B5-192D430DA679}" type="slidenum">
              <a:rPr lang="es-MX" smtClean="0"/>
              <a:t>‹Nº›</a:t>
            </a:fld>
            <a:endParaRPr lang="es-MX"/>
          </a:p>
        </p:txBody>
      </p:sp>
    </p:spTree>
    <p:extLst>
      <p:ext uri="{BB962C8B-B14F-4D97-AF65-F5344CB8AC3E}">
        <p14:creationId xmlns:p14="http://schemas.microsoft.com/office/powerpoint/2010/main" val="3359549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E527713-1033-4C8F-8674-B694EB2060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E057455B-7BAF-4747-AC77-77F471C98E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48122BEC-5132-4A78-8FFB-8199E6A902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7D56C0-5552-487B-A6EB-780E4AF5235B}" type="datetimeFigureOut">
              <a:rPr lang="es-MX" smtClean="0"/>
              <a:t>12/11/2025</a:t>
            </a:fld>
            <a:endParaRPr lang="es-MX"/>
          </a:p>
        </p:txBody>
      </p:sp>
      <p:sp>
        <p:nvSpPr>
          <p:cNvPr id="5" name="Marcador de pie de página 4">
            <a:extLst>
              <a:ext uri="{FF2B5EF4-FFF2-40B4-BE49-F238E27FC236}">
                <a16:creationId xmlns:a16="http://schemas.microsoft.com/office/drawing/2014/main" id="{A1D83E80-00DF-42DA-8262-0679164F71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D8DF30B6-99FF-4599-BAC5-769C012D58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55C1EA-DA40-4D71-81B5-192D430DA679}" type="slidenum">
              <a:rPr lang="es-MX" smtClean="0"/>
              <a:t>‹Nº›</a:t>
            </a:fld>
            <a:endParaRPr lang="es-MX"/>
          </a:p>
        </p:txBody>
      </p:sp>
    </p:spTree>
    <p:extLst>
      <p:ext uri="{BB962C8B-B14F-4D97-AF65-F5344CB8AC3E}">
        <p14:creationId xmlns:p14="http://schemas.microsoft.com/office/powerpoint/2010/main" val="3061869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g"/></Relationships>
</file>

<file path=ppt/slides/_rels/slide2.xml.rels>&#65279;<?xml version="1.0" encoding="utf-8"?><Relationships xmlns="http://schemas.openxmlformats.org/package/2006/relationships"><Relationship Type="http://schemas.openxmlformats.org/officeDocument/2006/relationships/image" Target="/ppt/media/image2.jpg" Id="R7452a31c4688473e" /><Relationship Type="http://schemas.openxmlformats.org/officeDocument/2006/relationships/image" Target="/ppt/media/image1.png" Id="R0b1f3159934341d2" /><Relationship Type="http://schemas.openxmlformats.org/officeDocument/2006/relationships/slideLayout" Target="/ppt/slideLayouts/slideLayout1.xml" Id="R0142c74d02f041aa" /><Relationship Type="http://schemas.openxmlformats.org/officeDocument/2006/relationships/image" Target="/ppt/media/image4.jpg" Id="R4b841a28a6bb4908" /><Relationship Type="http://schemas.openxmlformats.org/officeDocument/2006/relationships/image" Target="/ppt/media/image3.jpg" Id="R158d2013398d4e78" /><Relationship Type="http://schemas.openxmlformats.org/officeDocument/2006/relationships/image" Target="/ppt/media/image2.png" Id="R6928200032b341e3" /><Relationship Type="http://schemas.openxmlformats.org/officeDocument/2006/relationships/image" Target="/ppt/media/image5.jpeg" Id="Rbc3b19f4aed64229" /></Relationships>
</file>

<file path=ppt/slides/_rels/slide3.xml.rels>&#65279;<?xml version="1.0" encoding="utf-8"?><Relationships xmlns="http://schemas.openxmlformats.org/package/2006/relationships"><Relationship Type="http://schemas.openxmlformats.org/officeDocument/2006/relationships/image" Target="/ppt/media/image2.jpg" Id="Rb88bda8397bf42bc" /><Relationship Type="http://schemas.openxmlformats.org/officeDocument/2006/relationships/image" Target="/ppt/media/image1.png" Id="R4ff6df82b57e4b23" /><Relationship Type="http://schemas.openxmlformats.org/officeDocument/2006/relationships/slideLayout" Target="/ppt/slideLayouts/slideLayout1.xml" Id="Rf93a0e21a235429b" /><Relationship Type="http://schemas.openxmlformats.org/officeDocument/2006/relationships/image" Target="/ppt/media/image4.jpg" Id="Rcdb404ac864c4a93" /><Relationship Type="http://schemas.openxmlformats.org/officeDocument/2006/relationships/image" Target="/ppt/media/image3.jpg" Id="R10f304db183347bf" /><Relationship Type="http://schemas.openxmlformats.org/officeDocument/2006/relationships/image" Target="/ppt/media/image3.png" Id="Rb687c3b98b134a92" /><Relationship Type="http://schemas.openxmlformats.org/officeDocument/2006/relationships/image" Target="/ppt/media/image6.jpeg" Id="R15d00f4c93114687" /></Relationships>
</file>

<file path=ppt/slides/_rels/slide4.xml.rels>&#65279;<?xml version="1.0" encoding="utf-8"?><Relationships xmlns="http://schemas.openxmlformats.org/package/2006/relationships"><Relationship Type="http://schemas.openxmlformats.org/officeDocument/2006/relationships/image" Target="/ppt/media/image2.jpg" Id="R71108e2fd98a4cc9" /><Relationship Type="http://schemas.openxmlformats.org/officeDocument/2006/relationships/image" Target="/ppt/media/image1.png" Id="Re7a949adf5a940ed" /><Relationship Type="http://schemas.openxmlformats.org/officeDocument/2006/relationships/slideLayout" Target="/ppt/slideLayouts/slideLayout1.xml" Id="Re7c76bd37c3c4909" /><Relationship Type="http://schemas.openxmlformats.org/officeDocument/2006/relationships/image" Target="/ppt/media/image4.jpg" Id="R7c85c1dec23843be" /><Relationship Type="http://schemas.openxmlformats.org/officeDocument/2006/relationships/image" Target="/ppt/media/image3.jpg" Id="Ree733e3b3fde40f3" /><Relationship Type="http://schemas.openxmlformats.org/officeDocument/2006/relationships/image" Target="/ppt/media/image4.png" Id="R2c92afead4cd4be2" /><Relationship Type="http://schemas.openxmlformats.org/officeDocument/2006/relationships/image" Target="/ppt/media/image7.jpeg" Id="R0e3716e59e25440e" /></Relationships>
</file>

<file path=ppt/slides/_rels/slide5.xml.rels>&#65279;<?xml version="1.0" encoding="utf-8"?><Relationships xmlns="http://schemas.openxmlformats.org/package/2006/relationships"><Relationship Type="http://schemas.openxmlformats.org/officeDocument/2006/relationships/image" Target="/ppt/media/image2.jpg" Id="R4fc7676339b54be9" /><Relationship Type="http://schemas.openxmlformats.org/officeDocument/2006/relationships/image" Target="/ppt/media/image1.png" Id="R6a0e76b24d394f59" /><Relationship Type="http://schemas.openxmlformats.org/officeDocument/2006/relationships/slideLayout" Target="/ppt/slideLayouts/slideLayout1.xml" Id="R32087f0c00e244cf" /><Relationship Type="http://schemas.openxmlformats.org/officeDocument/2006/relationships/image" Target="/ppt/media/image4.jpg" Id="R4f6c09196d7045b1" /><Relationship Type="http://schemas.openxmlformats.org/officeDocument/2006/relationships/image" Target="/ppt/media/image3.jpg" Id="R5e7a460899834c0d" /><Relationship Type="http://schemas.openxmlformats.org/officeDocument/2006/relationships/image" Target="/ppt/media/image5.png" Id="R0a600ddb8e4648fa" /><Relationship Type="http://schemas.openxmlformats.org/officeDocument/2006/relationships/image" Target="/ppt/media/image8.jpeg" Id="R2429dcecb3c446aa" /></Relationships>
</file>

<file path=ppt/slides/_rels/slide6.xml.rels>&#65279;<?xml version="1.0" encoding="utf-8"?><Relationships xmlns="http://schemas.openxmlformats.org/package/2006/relationships"><Relationship Type="http://schemas.openxmlformats.org/officeDocument/2006/relationships/image" Target="/ppt/media/image2.jpg" Id="R971a7860a65e4a1e" /><Relationship Type="http://schemas.openxmlformats.org/officeDocument/2006/relationships/image" Target="/ppt/media/image1.png" Id="R46b13f653bcb4dd6" /><Relationship Type="http://schemas.openxmlformats.org/officeDocument/2006/relationships/slideLayout" Target="/ppt/slideLayouts/slideLayout1.xml" Id="R01f1ab72c42f4b4e" /><Relationship Type="http://schemas.openxmlformats.org/officeDocument/2006/relationships/image" Target="/ppt/media/image4.jpg" Id="R85b957c4dd124958" /><Relationship Type="http://schemas.openxmlformats.org/officeDocument/2006/relationships/image" Target="/ppt/media/image3.jpg" Id="R44693be52f6b4040" /><Relationship Type="http://schemas.openxmlformats.org/officeDocument/2006/relationships/image" Target="/ppt/media/image6.png" Id="R6b190e7c5c8047b7" /><Relationship Type="http://schemas.openxmlformats.org/officeDocument/2006/relationships/image" Target="/ppt/media/image9.jpeg" Id="R3846afef12554268"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FONDO]" descr="[FONDO]">
            <a:extLst>
              <a:ext uri="{FF2B5EF4-FFF2-40B4-BE49-F238E27FC236}">
                <a16:creationId xmlns:a16="http://schemas.microsoft.com/office/drawing/2014/main" id="{550B94DC-8083-409B-A0AE-8E5F92888076}"/>
              </a:ext>
            </a:extLst>
          </p:cNvPr>
          <p:cNvPicPr>
            <a:picLocks noChangeAspect="1"/>
          </p:cNvPicPr>
          <p:nvPr/>
        </p:nvPicPr>
        <p:blipFill>
          <a:blip r:embed="rId2"/>
          <a:stretch>
            <a:fillRect/>
          </a:stretch>
        </p:blipFill>
        <p:spPr>
          <a:xfrm>
            <a:off x="0" y="9634"/>
            <a:ext cx="12192000" cy="6838731"/>
          </a:xfrm>
          <a:prstGeom prst="rect">
            <a:avLst/>
          </a:prstGeom>
        </p:spPr>
      </p:pic>
      <p:pic>
        <p:nvPicPr>
          <p:cNvPr id="6" name="[FP]" descr="[FP]">
            <a:extLst>
              <a:ext uri="{FF2B5EF4-FFF2-40B4-BE49-F238E27FC236}">
                <a16:creationId xmlns:a16="http://schemas.microsoft.com/office/drawing/2014/main" id="{96BB27C3-171F-415B-955E-00B05E76B932}"/>
              </a:ext>
              <a:ext uri="{C183D7F6-B498-43B3-948B-1728B52AA6E4}">
                <adec:decorative xmlns:adec="http://schemas.microsoft.com/office/drawing/2017/decorative" val="0"/>
              </a:ext>
            </a:extLst>
          </p:cNvPr>
          <p:cNvPicPr>
            <a:picLocks noChangeAspect="1"/>
          </p:cNvPicPr>
          <p:nvPr/>
        </p:nvPicPr>
        <p:blipFill rotWithShape="1">
          <a:blip r:embed="rId3">
            <a:extLst>
              <a:ext uri="{28A0092B-C50C-407E-A947-70E740481C1C}">
                <a14:useLocalDpi xmlns:a14="http://schemas.microsoft.com/office/drawing/2010/main" val="0"/>
              </a:ext>
            </a:extLst>
          </a:blip>
          <a:srcRect l="13321" r="5707" b="43686"/>
          <a:stretch/>
        </p:blipFill>
        <p:spPr>
          <a:xfrm>
            <a:off x="375030" y="872451"/>
            <a:ext cx="1746956" cy="1783408"/>
          </a:xfrm>
          <a:prstGeom prst="rect">
            <a:avLst/>
          </a:prstGeom>
          <a:ln w="1905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
        <p:nvSpPr>
          <p:cNvPr id="7" name="CuadroTexto 6">
            <a:extLst>
              <a:ext uri="{FF2B5EF4-FFF2-40B4-BE49-F238E27FC236}">
                <a16:creationId xmlns:a16="http://schemas.microsoft.com/office/drawing/2014/main" id="{3D74CD59-3E7C-4914-8600-4A1E85442772}"/>
              </a:ext>
              <a:ext uri="{C183D7F6-B498-43B3-948B-1728B52AA6E4}">
                <adec:decorative xmlns:adec="http://schemas.microsoft.com/office/drawing/2017/decorative" val="0"/>
              </a:ext>
            </a:extLst>
          </p:cNvPr>
          <p:cNvSpPr txBox="1"/>
          <p:nvPr/>
        </p:nvSpPr>
        <p:spPr>
          <a:xfrm>
            <a:off x="375030" y="2676896"/>
            <a:ext cx="1746956" cy="400110"/>
          </a:xfrm>
          <a:prstGeom prst="rect">
            <a:avLst/>
          </a:prstGeom>
          <a:noFill/>
          <a:ln w="19050">
            <a:solidFill>
              <a:srgbClr val="002060"/>
            </a:solidFill>
          </a:ln>
        </p:spPr>
        <p:txBody>
          <a:bodyPr wrap="square" rtlCol="0">
            <a:spAutoFit/>
          </a:bodyPr>
          <a:lstStyle/>
          <a:p>
            <a:pPr algn="ctr" defTabSz="1219169" hangingPunct="0"/>
            <a:r>
              <a:rPr lang="es-MX" sz="1000" b="1" kern="0" dirty="0">
                <a:solidFill>
                  <a:srgbClr val="D5D5D5">
                    <a:lumMod val="10000"/>
                  </a:srgbClr>
                </a:solidFill>
                <a:latin typeface="Helvetica Neue"/>
                <a:sym typeface="Helvetica Neue"/>
              </a:rPr>
              <a:t>[C1]</a:t>
            </a:r>
          </a:p>
          <a:p>
            <a:pPr algn="ctr" defTabSz="1219169" hangingPunct="0"/>
            <a:r>
              <a:rPr lang="es-MX" sz="1000" b="1" kern="0" dirty="0">
                <a:solidFill>
                  <a:srgbClr val="D5D5D5">
                    <a:lumMod val="10000"/>
                  </a:srgbClr>
                </a:solidFill>
                <a:latin typeface="Helvetica Neue"/>
                <a:sym typeface="Helvetica Neue"/>
              </a:rPr>
              <a:t>[C10]</a:t>
            </a:r>
          </a:p>
        </p:txBody>
      </p:sp>
      <p:sp>
        <p:nvSpPr>
          <p:cNvPr id="9" name="CuadroTexto 8">
            <a:extLst>
              <a:ext uri="{FF2B5EF4-FFF2-40B4-BE49-F238E27FC236}">
                <a16:creationId xmlns:a16="http://schemas.microsoft.com/office/drawing/2014/main" id="{30351AD1-E07B-4A71-9B0F-C13A755BC74E}"/>
              </a:ext>
              <a:ext uri="{C183D7F6-B498-43B3-948B-1728B52AA6E4}">
                <adec:decorative xmlns:adec="http://schemas.microsoft.com/office/drawing/2017/decorative" val="0"/>
              </a:ext>
            </a:extLst>
          </p:cNvPr>
          <p:cNvSpPr txBox="1"/>
          <p:nvPr/>
        </p:nvSpPr>
        <p:spPr>
          <a:xfrm>
            <a:off x="535322" y="4736644"/>
            <a:ext cx="1426372"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200" b="1" kern="0" dirty="0">
                <a:solidFill>
                  <a:srgbClr val="D5D5D5">
                    <a:lumMod val="10000"/>
                  </a:srgbClr>
                </a:solidFill>
                <a:latin typeface="Helvetica Neue"/>
                <a:sym typeface="Helvetica Neue"/>
              </a:rPr>
              <a:t>Objetivo detenido</a:t>
            </a:r>
          </a:p>
        </p:txBody>
      </p:sp>
      <p:sp>
        <p:nvSpPr>
          <p:cNvPr id="11" name="Rectángulo: esquinas redondeadas 10">
            <a:extLst>
              <a:ext uri="{FF2B5EF4-FFF2-40B4-BE49-F238E27FC236}">
                <a16:creationId xmlns:a16="http://schemas.microsoft.com/office/drawing/2014/main" id="{DCBA5AE1-928F-4078-8BDA-87D77C1A9140}"/>
              </a:ext>
              <a:ext uri="{C183D7F6-B498-43B3-948B-1728B52AA6E4}">
                <adec:decorative xmlns:adec="http://schemas.microsoft.com/office/drawing/2017/decorative" val="0"/>
              </a:ext>
            </a:extLst>
          </p:cNvPr>
          <p:cNvSpPr/>
          <p:nvPr/>
        </p:nvSpPr>
        <p:spPr>
          <a:xfrm>
            <a:off x="375030" y="4690041"/>
            <a:ext cx="1746956" cy="329168"/>
          </a:xfrm>
          <a:prstGeom prst="roundRect">
            <a:avLst/>
          </a:prstGeom>
          <a:noFill/>
          <a:ln w="19050" cap="flat">
            <a:solidFill>
              <a:srgbClr val="00206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412750" hangingPunct="0"/>
            <a:endParaRPr lang="es-MX" sz="1600" kern="0">
              <a:solidFill>
                <a:srgbClr val="FFFFFF"/>
              </a:solidFill>
              <a:latin typeface="Helvetica Neue Medium"/>
              <a:ea typeface="Helvetica Neue Medium"/>
              <a:cs typeface="Helvetica Neue Medium"/>
              <a:sym typeface="Helvetica Neue Medium"/>
            </a:endParaRPr>
          </a:p>
        </p:txBody>
      </p:sp>
      <p:graphicFrame>
        <p:nvGraphicFramePr>
          <p:cNvPr id="12" name="Tabla 11">
            <a:extLst>
              <a:ext uri="{FF2B5EF4-FFF2-40B4-BE49-F238E27FC236}">
                <a16:creationId xmlns:a16="http://schemas.microsoft.com/office/drawing/2014/main" id="{7D086326-9674-4613-A1F6-30D70D726251}"/>
              </a:ext>
              <a:ext uri="{C183D7F6-B498-43B3-948B-1728B52AA6E4}">
                <adec:decorative xmlns:adec="http://schemas.microsoft.com/office/drawing/2017/decorative" val="0"/>
              </a:ext>
            </a:extLst>
          </p:cNvPr>
          <p:cNvGraphicFramePr>
            <a:graphicFrameLocks noGrp="1"/>
          </p:cNvGraphicFramePr>
          <p:nvPr>
            <p:extLst>
              <p:ext uri="{D42A27DB-BD31-4B8C-83A1-F6EECF244321}">
                <p14:modId xmlns:p14="http://schemas.microsoft.com/office/powerpoint/2010/main" val="3363756650"/>
              </p:ext>
            </p:extLst>
          </p:nvPr>
        </p:nvGraphicFramePr>
        <p:xfrm>
          <a:off x="2342571" y="872451"/>
          <a:ext cx="9255737" cy="5158857"/>
        </p:xfrm>
        <a:graphic>
          <a:graphicData uri="http://schemas.openxmlformats.org/drawingml/2006/table">
            <a:tbl>
              <a:tblPr firstRow="1" bandRow="1">
                <a:tableStyleId>{5940675A-B579-460E-94D1-54222C63F5DA}</a:tableStyleId>
              </a:tblPr>
              <a:tblGrid>
                <a:gridCol w="1821946">
                  <a:extLst>
                    <a:ext uri="{9D8B030D-6E8A-4147-A177-3AD203B41FA5}">
                      <a16:colId xmlns:a16="http://schemas.microsoft.com/office/drawing/2014/main" val="84531247"/>
                    </a:ext>
                  </a:extLst>
                </a:gridCol>
                <a:gridCol w="4416776">
                  <a:extLst>
                    <a:ext uri="{9D8B030D-6E8A-4147-A177-3AD203B41FA5}">
                      <a16:colId xmlns:a16="http://schemas.microsoft.com/office/drawing/2014/main" val="2002464751"/>
                    </a:ext>
                  </a:extLst>
                </a:gridCol>
                <a:gridCol w="3017015">
                  <a:extLst>
                    <a:ext uri="{9D8B030D-6E8A-4147-A177-3AD203B41FA5}">
                      <a16:colId xmlns:a16="http://schemas.microsoft.com/office/drawing/2014/main" val="3567498210"/>
                    </a:ext>
                  </a:extLst>
                </a:gridCol>
              </a:tblGrid>
              <a:tr h="77724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Antecedentes </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indent="0" algn="l">
                        <a:buFont typeface="Arial" panose="020B0604020202020204" pitchFamily="34" charset="0"/>
                        <a:buNone/>
                      </a:pPr>
                      <a:r>
                        <a:rPr kumimoji="0" lang="es-419" sz="1200" b="0" i="0" u="none" strike="noStrike" cap="none" spc="0" normalizeH="0" dirty="0">
                          <a:ln>
                            <a:noFill/>
                          </a:ln>
                          <a:solidFill>
                            <a:schemeClr val="bg2">
                              <a:lumMod val="10000"/>
                            </a:schemeClr>
                          </a:solidFill>
                          <a:effectLst/>
                          <a:latin typeface="+mj-lt"/>
                          <a:ea typeface="+mn-ea"/>
                          <a:cs typeface="+mn-cs"/>
                          <a:sym typeface="Helvetica Neue"/>
                        </a:rPr>
                        <a:t>[C4]</a:t>
                      </a:r>
                      <a:endParaRPr kumimoji="0" lang="es-MX" sz="1200" b="0" i="0" u="none" strike="noStrike"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4260607246"/>
                  </a:ext>
                </a:extLst>
              </a:tr>
              <a:tr h="41148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Órdenes de aprehensión</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l"/>
                      <a:r>
                        <a:rPr kumimoji="0" lang="es-419" sz="1200" b="0" i="0" u="none" strike="noStrike" cap="none" spc="0" normalizeH="0" dirty="0">
                          <a:ln>
                            <a:noFill/>
                          </a:ln>
                          <a:solidFill>
                            <a:schemeClr val="bg2">
                              <a:lumMod val="10000"/>
                            </a:schemeClr>
                          </a:solidFill>
                          <a:effectLst/>
                          <a:latin typeface="+mj-lt"/>
                          <a:ea typeface="+mn-ea"/>
                          <a:cs typeface="+mn-cs"/>
                          <a:sym typeface="Helvetica Neue"/>
                        </a:rPr>
                        <a:t>[C6]</a:t>
                      </a:r>
                      <a:endParaRPr kumimoji="0" lang="es-MX" sz="1200" b="0" i="0" u="none" strike="noStrike"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601757136"/>
                  </a:ext>
                </a:extLst>
              </a:tr>
              <a:tr h="1867017">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Asuntos relacionados </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just">
                        <a:buFont typeface="Arial" panose="020B0604020202020204" pitchFamily="34" charset="0"/>
                        <a:buNone/>
                      </a:pPr>
                      <a:r>
                        <a:rPr kumimoji="0" lang="es-MX" sz="1200" b="1" i="0" u="none" strike="noStrike" kern="1200" cap="none" spc="0" normalizeH="0" dirty="0">
                          <a:ln>
                            <a:noFill/>
                          </a:ln>
                          <a:solidFill>
                            <a:schemeClr val="bg2">
                              <a:lumMod val="10000"/>
                            </a:schemeClr>
                          </a:solidFill>
                          <a:effectLst/>
                          <a:latin typeface="+mj-lt"/>
                          <a:ea typeface="+mn-ea"/>
                          <a:cs typeface="+mn-cs"/>
                          <a:sym typeface="Helvetica Neue"/>
                        </a:rPr>
                        <a:t>[C9]</a:t>
                      </a: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just">
                        <a:buFont typeface="Arial" panose="020B0604020202020204" pitchFamily="34" charset="0"/>
                        <a:buNone/>
                      </a:pPr>
                      <a:r>
                        <a:rPr lang="es-MX" sz="1200" b="0" i="0" u="none" strike="noStrike" kern="1200" cap="none" spc="0" baseline="0">
                          <a:solidFill>
                            <a:schemeClr val="bg2">
                              <a:lumMod val="10000"/>
                            </a:schemeClr>
                          </a:solidFill>
                          <a:uFillTx/>
                          <a:latin typeface="+mj-lt"/>
                          <a:ea typeface="+mn-ea"/>
                          <a:cs typeface="+mn-cs"/>
                          <a:sym typeface="Helvetica Neue"/>
                        </a:rPr>
                        <a:t>[C13]</a:t>
                      </a:r>
                      <a:endParaRPr lang="es-MX" sz="1200" b="0" i="0" u="none" strike="noStrike" kern="1200" cap="none" spc="0" baseline="0" dirty="0">
                        <a:solidFill>
                          <a:schemeClr val="bg2">
                            <a:lumMod val="10000"/>
                          </a:schemeClr>
                        </a:solidFill>
                        <a:uFillTx/>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47750782"/>
                  </a:ext>
                </a:extLst>
              </a:tr>
              <a:tr h="96012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Sentencia</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just" defTabSz="584200" rtl="0" eaLnBrk="1" fontAlgn="auto" latinLnBrk="0" hangingPunct="1">
                        <a:lnSpc>
                          <a:spcPct val="100000"/>
                        </a:lnSpc>
                        <a:spcBef>
                          <a:spcPts val="0"/>
                        </a:spcBef>
                        <a:spcAft>
                          <a:spcPts val="0"/>
                        </a:spcAft>
                        <a:buClrTx/>
                        <a:buSzTx/>
                        <a:buFontTx/>
                        <a:buNone/>
                        <a:tabLst/>
                        <a:defRPr/>
                      </a:pPr>
                      <a:r>
                        <a:rPr lang="es-MX" sz="1200" kern="1200" dirty="0">
                          <a:solidFill>
                            <a:schemeClr val="bg2">
                              <a:lumMod val="10000"/>
                            </a:schemeClr>
                          </a:solidFill>
                          <a:latin typeface="+mj-lt"/>
                          <a:ea typeface="+mn-ea"/>
                          <a:cs typeface="+mn-cs"/>
                        </a:rPr>
                        <a:t>[C7], [C8]</a:t>
                      </a: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1778621528"/>
                  </a:ext>
                </a:extLst>
              </a:tr>
              <a:tr h="114300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Estatus jurídico</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just"/>
                      <a:r>
                        <a:rPr kumimoji="0" lang="es-MX" sz="1200" b="1" i="0" u="none" strike="noStrike" cap="none" spc="0" normalizeH="0" dirty="0">
                          <a:ln>
                            <a:noFill/>
                          </a:ln>
                          <a:solidFill>
                            <a:srgbClr val="002060"/>
                          </a:solidFill>
                          <a:effectLst/>
                          <a:latin typeface="+mj-lt"/>
                          <a:ea typeface="+mn-ea"/>
                          <a:cs typeface="+mn-cs"/>
                          <a:sym typeface="Helvetica Neue"/>
                        </a:rPr>
                        <a:t>[C5]</a:t>
                      </a:r>
                      <a:endParaRPr kumimoji="0" lang="es-MX" sz="1200" b="0" i="0" u="none" strike="noStrike"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554105151"/>
                  </a:ext>
                </a:extLst>
              </a:tr>
            </a:tbl>
          </a:graphicData>
        </a:graphic>
      </p:graphicFrame>
      <p:pic>
        <p:nvPicPr>
          <p:cNvPr id="13" name="Imagen 12">
            <a:extLst>
              <a:ext uri="{FF2B5EF4-FFF2-40B4-BE49-F238E27FC236}">
                <a16:creationId xmlns:a16="http://schemas.microsoft.com/office/drawing/2014/main" id="{F3E4DB8D-4053-4584-8E16-FD3B10A1C1B7}"/>
              </a:ext>
              <a:ext uri="{C183D7F6-B498-43B3-948B-1728B52AA6E4}">
                <adec:decorative xmlns:adec="http://schemas.microsoft.com/office/drawing/2017/decorative" val="0"/>
              </a:ext>
            </a:extLst>
          </p:cNvPr>
          <p:cNvPicPr>
            <a:picLocks noChangeAspect="1"/>
          </p:cNvPicPr>
          <p:nvPr/>
        </p:nvPicPr>
        <p:blipFill rotWithShape="1">
          <a:blip r:embed="rId4">
            <a:extLst>
              <a:ext uri="{28A0092B-C50C-407E-A947-70E740481C1C}">
                <a14:useLocalDpi xmlns:a14="http://schemas.microsoft.com/office/drawing/2010/main" val="0"/>
              </a:ext>
            </a:extLst>
          </a:blip>
          <a:srcRect l="453" t="15439" r="-453" b="20541"/>
          <a:stretch/>
        </p:blipFill>
        <p:spPr>
          <a:xfrm>
            <a:off x="4517254" y="2781648"/>
            <a:ext cx="1370384" cy="1091957"/>
          </a:xfrm>
          <a:prstGeom prst="rect">
            <a:avLst/>
          </a:prstGeom>
        </p:spPr>
      </p:pic>
      <p:pic>
        <p:nvPicPr>
          <p:cNvPr id="14" name="Imagen 13">
            <a:extLst>
              <a:ext uri="{FF2B5EF4-FFF2-40B4-BE49-F238E27FC236}">
                <a16:creationId xmlns:a16="http://schemas.microsoft.com/office/drawing/2014/main" id="{78AD0D50-CEAB-4875-8FC7-D883FA47718A}"/>
              </a:ext>
              <a:ext uri="{C183D7F6-B498-43B3-948B-1728B52AA6E4}">
                <adec:decorative xmlns:adec="http://schemas.microsoft.com/office/drawing/2017/decorative" val="0"/>
              </a:ext>
            </a:extLst>
          </p:cNvPr>
          <p:cNvPicPr>
            <a:picLocks noChangeAspect="1"/>
          </p:cNvPicPr>
          <p:nvPr/>
        </p:nvPicPr>
        <p:blipFill rotWithShape="1">
          <a:blip r:embed="rId5">
            <a:extLst>
              <a:ext uri="{28A0092B-C50C-407E-A947-70E740481C1C}">
                <a14:useLocalDpi xmlns:a14="http://schemas.microsoft.com/office/drawing/2010/main" val="0"/>
              </a:ext>
            </a:extLst>
          </a:blip>
          <a:srcRect l="14776" b="36330"/>
          <a:stretch/>
        </p:blipFill>
        <p:spPr>
          <a:xfrm>
            <a:off x="6687005" y="2799457"/>
            <a:ext cx="1145979" cy="1091957"/>
          </a:xfrm>
          <a:prstGeom prst="rect">
            <a:avLst/>
          </a:prstGeom>
        </p:spPr>
      </p:pic>
      <p:sp>
        <p:nvSpPr>
          <p:cNvPr id="15" name="CuadroTexto 14">
            <a:extLst>
              <a:ext uri="{FF2B5EF4-FFF2-40B4-BE49-F238E27FC236}">
                <a16:creationId xmlns:a16="http://schemas.microsoft.com/office/drawing/2014/main" id="{892DDAC4-4E3B-42FD-8F24-EB68A85E8C14}"/>
              </a:ext>
              <a:ext uri="{C183D7F6-B498-43B3-948B-1728B52AA6E4}">
                <adec:decorative xmlns:adec="http://schemas.microsoft.com/office/drawing/2017/decorative" val="0"/>
              </a:ext>
            </a:extLst>
          </p:cNvPr>
          <p:cNvSpPr txBox="1"/>
          <p:nvPr/>
        </p:nvSpPr>
        <p:spPr>
          <a:xfrm>
            <a:off x="380448" y="3259050"/>
            <a:ext cx="1746956" cy="577081"/>
          </a:xfrm>
          <a:prstGeom prst="rect">
            <a:avLst/>
          </a:prstGeom>
          <a:noFill/>
          <a:ln w="19050">
            <a:solidFill>
              <a:srgbClr val="002060"/>
            </a:solidFill>
          </a:ln>
        </p:spPr>
        <p:txBody>
          <a:bodyPr wrap="square" rtlCol="0">
            <a:spAutoFit/>
          </a:bodyPr>
          <a:lstStyle/>
          <a:p>
            <a:pPr algn="ctr" defTabSz="1219169" hangingPunct="0"/>
            <a:r>
              <a:rPr lang="es-MX" sz="1050" b="1" kern="0" dirty="0">
                <a:solidFill>
                  <a:srgbClr val="D5D5D5">
                    <a:lumMod val="10000"/>
                  </a:srgbClr>
                </a:solidFill>
                <a:latin typeface="Helvetica Neue"/>
                <a:sym typeface="Helvetica Neue"/>
              </a:rPr>
              <a:t>Fecha de nacimiento: [C11]</a:t>
            </a:r>
          </a:p>
          <a:p>
            <a:pPr algn="ctr" defTabSz="1219169" hangingPunct="0"/>
            <a:r>
              <a:rPr lang="es-MX" sz="1050" b="1" kern="0" dirty="0">
                <a:solidFill>
                  <a:srgbClr val="D5D5D5">
                    <a:lumMod val="10000"/>
                  </a:srgbClr>
                </a:solidFill>
                <a:latin typeface="Helvetica Neue"/>
                <a:sym typeface="Helvetica Neue"/>
              </a:rPr>
              <a:t>[C12]</a:t>
            </a:r>
          </a:p>
        </p:txBody>
      </p:sp>
      <p:sp>
        <p:nvSpPr>
          <p:cNvPr id="16" name="CuadroTexto 15">
            <a:extLst>
              <a:ext uri="{FF2B5EF4-FFF2-40B4-BE49-F238E27FC236}">
                <a16:creationId xmlns:a16="http://schemas.microsoft.com/office/drawing/2014/main" id="{36DEA57A-0F2B-4205-9AEA-CDB8A26DFE03}"/>
              </a:ext>
              <a:ext uri="{C183D7F6-B498-43B3-948B-1728B52AA6E4}">
                <adec:decorative xmlns:adec="http://schemas.microsoft.com/office/drawing/2017/decorative" val="0"/>
              </a:ext>
            </a:extLst>
          </p:cNvPr>
          <p:cNvSpPr txBox="1"/>
          <p:nvPr/>
        </p:nvSpPr>
        <p:spPr>
          <a:xfrm>
            <a:off x="4158761" y="4230518"/>
            <a:ext cx="2087370"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200" dirty="0">
                <a:solidFill>
                  <a:srgbClr val="D5D5D5">
                    <a:lumMod val="10000"/>
                  </a:srgbClr>
                </a:solidFill>
                <a:latin typeface="Helvetica Neue"/>
                <a:sym typeface="Helvetica Neue"/>
              </a:rPr>
              <a:t>[V1]</a:t>
            </a:r>
          </a:p>
        </p:txBody>
      </p:sp>
      <p:sp>
        <p:nvSpPr>
          <p:cNvPr id="17" name="CuadroTexto 16">
            <a:extLst>
              <a:ext uri="{FF2B5EF4-FFF2-40B4-BE49-F238E27FC236}">
                <a16:creationId xmlns:a16="http://schemas.microsoft.com/office/drawing/2014/main" id="{AB2E1746-7AB9-4030-9908-3CB3D9894222}"/>
              </a:ext>
              <a:ext uri="{C183D7F6-B498-43B3-948B-1728B52AA6E4}">
                <adec:decorative xmlns:adec="http://schemas.microsoft.com/office/drawing/2017/decorative" val="0"/>
              </a:ext>
            </a:extLst>
          </p:cNvPr>
          <p:cNvSpPr txBox="1"/>
          <p:nvPr/>
        </p:nvSpPr>
        <p:spPr>
          <a:xfrm>
            <a:off x="6560438" y="4212361"/>
            <a:ext cx="2087370"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200" dirty="0">
                <a:solidFill>
                  <a:srgbClr val="D5D5D5">
                    <a:lumMod val="10000"/>
                  </a:srgbClr>
                </a:solidFill>
                <a:latin typeface="Helvetica Neue"/>
                <a:sym typeface="Helvetica Neue"/>
              </a:rPr>
              <a:t>[V2]</a:t>
            </a:r>
          </a:p>
        </p:txBody>
      </p:sp>
      <p:sp>
        <p:nvSpPr>
          <p:cNvPr id="10" name="Rectángulo: esquinas redondeadas 9">
            <a:extLst>
              <a:ext uri="{FF2B5EF4-FFF2-40B4-BE49-F238E27FC236}">
                <a16:creationId xmlns:a16="http://schemas.microsoft.com/office/drawing/2014/main" id="{A867825B-864F-4860-8146-FF4726E50C0C}"/>
              </a:ext>
              <a:ext uri="{C183D7F6-B498-43B3-948B-1728B52AA6E4}">
                <adec:decorative xmlns:adec="http://schemas.microsoft.com/office/drawing/2017/decorative" val="0"/>
              </a:ext>
            </a:extLst>
          </p:cNvPr>
          <p:cNvSpPr/>
          <p:nvPr/>
        </p:nvSpPr>
        <p:spPr>
          <a:xfrm>
            <a:off x="375030" y="3981262"/>
            <a:ext cx="1746956" cy="431324"/>
          </a:xfrm>
          <a:prstGeom prst="roundRect">
            <a:avLst/>
          </a:prstGeom>
          <a:noFill/>
          <a:ln w="19050" cap="flat">
            <a:solidFill>
              <a:srgbClr val="00206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050" b="1" kern="0" dirty="0">
                <a:solidFill>
                  <a:srgbClr val="FF0000"/>
                </a:solidFill>
                <a:latin typeface="Helvetica Neue"/>
                <a:sym typeface="Helvetica Neue"/>
              </a:rPr>
              <a:t>[C2]</a:t>
            </a:r>
          </a:p>
          <a:p>
            <a:pPr algn="ctr" defTabSz="1219169" hangingPunct="0"/>
            <a:r>
              <a:rPr lang="es-MX" sz="1050" b="1" kern="0" dirty="0">
                <a:solidFill>
                  <a:srgbClr val="D5D5D5">
                    <a:lumMod val="10000"/>
                  </a:srgbClr>
                </a:solidFill>
                <a:latin typeface="Helvetica Neue"/>
                <a:sym typeface="Helvetica Neue"/>
              </a:rPr>
              <a:t>Función: [C3] </a:t>
            </a:r>
          </a:p>
        </p:txBody>
      </p:sp>
    </p:spTree>
    <p:extLst>
      <p:ext uri="{BB962C8B-B14F-4D97-AF65-F5344CB8AC3E}">
        <p14:creationId xmlns:p14="http://schemas.microsoft.com/office/powerpoint/2010/main" val="2376095208"/>
      </p:ext>
    </p:extLst>
  </p:cSld>
  <p:clrMapOvr>
    <a:masterClrMapping/>
  </p:clrMapOvr>
</p:sld>
</file>

<file path=ppt/slides/slide2.xml><?xml version="1.0" encoding="utf-8"?>
<p:sld xmlns:a16="http://schemas.microsoft.com/office/drawing/2014/main" xmlns:adec="http://schemas.microsoft.com/office/drawing/2017/decorative" xmlns:a14="http://schemas.microsoft.com/office/drawing/2010/main" xmlns:ma14="http://schemas.microsoft.com/office/mac/drawingml/2011/main" xmlns:m="http://schemas.openxmlformats.org/officeDocument/2006/math"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FONDO]" descr="[FONDO]">
            <a:extLst>
              <a:ext uri="{FF2B5EF4-FFF2-40B4-BE49-F238E27FC236}">
                <a16:creationId xmlns:a16="http://schemas.microsoft.com/office/drawing/2014/main" id="{550B94DC-8083-409B-A0AE-8E5F92888076}"/>
              </a:ext>
            </a:extLst>
          </p:cNvPr>
          <p:cNvPicPr>
            <a:picLocks noChangeAspect="1"/>
          </p:cNvPicPr>
          <p:nvPr/>
        </p:nvPicPr>
        <p:blipFill>
          <a:blip r:embed="R6928200032b341e3"/>
          <a:stretch>
            <a:fillRect/>
          </a:stretch>
        </p:blipFill>
        <p:spPr>
          <a:xfrm>
            <a:off x="0" y="9634"/>
            <a:ext cx="12192000" cy="6838731"/>
          </a:xfrm>
          <a:prstGeom prst="rect">
            <a:avLst/>
          </a:prstGeom>
        </p:spPr>
      </p:pic>
      <p:pic>
        <p:nvPicPr>
          <p:cNvPr id="6" name="[FP]" descr="[FP]">
            <a:extLst>
              <a:ext uri="{FF2B5EF4-FFF2-40B4-BE49-F238E27FC236}">
                <a16:creationId xmlns:a16="http://schemas.microsoft.com/office/drawing/2014/main" id="{96BB27C3-171F-415B-955E-00B05E76B932}"/>
              </a:ext>
              <a:ext uri="{C183D7F6-B498-43B3-948B-1728B52AA6E4}">
                <adec:decorative xmlns:adec="http://schemas.microsoft.com/office/drawing/2017/decorative" val="0"/>
              </a:ext>
            </a:extLst>
          </p:cNvPr>
          <p:cNvPicPr>
            <a:picLocks noChangeAspect="1"/>
          </p:cNvPicPr>
          <p:nvPr/>
        </p:nvPicPr>
        <p:blipFill rotWithShape="1">
          <a:blip r:embed="Rbc3b19f4aed64229">
            <a:extLst>
              <a:ext uri="{28A0092B-C50C-407E-A947-70E740481C1C}">
                <a14:useLocalDpi xmlns:a14="http://schemas.microsoft.com/office/drawing/2010/main" val="0"/>
              </a:ext>
            </a:extLst>
          </a:blip>
          <a:srcRect l="13321" r="5707" b="43686"/>
          <a:stretch/>
        </p:blipFill>
        <p:spPr>
          <a:xfrm>
            <a:off x="375030" y="872451"/>
            <a:ext cx="1746956" cy="1783408"/>
          </a:xfrm>
          <a:prstGeom prst="rect">
            <a:avLst/>
          </a:prstGeom>
          <a:ln w="1905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val="1"/>
            </a:ext>
          </a:extLst>
        </p:spPr>
      </p:pic>
      <p:sp>
        <p:nvSpPr>
          <p:cNvPr id="7" name="CuadroTexto 6">
            <a:extLst>
              <a:ext uri="{FF2B5EF4-FFF2-40B4-BE49-F238E27FC236}">
                <a16:creationId xmlns:a16="http://schemas.microsoft.com/office/drawing/2014/main" id="{3D74CD59-3E7C-4914-8600-4A1E85442772}"/>
              </a:ext>
              <a:ext uri="{C183D7F6-B498-43B3-948B-1728B52AA6E4}">
                <adec:decorative xmlns:adec="http://schemas.microsoft.com/office/drawing/2017/decorative" val="0"/>
              </a:ext>
            </a:extLst>
          </p:cNvPr>
          <p:cNvSpPr txBox="1"/>
          <p:nvPr/>
        </p:nvSpPr>
        <p:spPr>
          <a:xfrm>
            <a:off x="375030" y="2676896"/>
            <a:ext cx="1746956" cy="400110"/>
          </a:xfrm>
          <a:prstGeom prst="rect">
            <a:avLst/>
          </a:prstGeom>
          <a:noFill/>
          <a:ln w="19050">
            <a:solidFill>
              <a:srgbClr val="002060"/>
            </a:solidFill>
          </a:ln>
        </p:spPr>
        <p:txBody>
          <a:bodyPr wrap="square" rtlCol="0">
            <a:spAutoFit/>
          </a:bodyPr>
          <a:lstStyle/>
          <a:p>
            <a:pPr algn="ctr" defTabSz="1219169" hangingPunct="0"/>
            <a:r>
              <a:rPr lang="es-MX" sz="1000" b="1" kern="0" dirty="0">
                <a:solidFill>
                  <a:srgbClr val="D5D5D5">
                    <a:lumMod val="10000"/>
                  </a:srgbClr>
                </a:solidFill>
                <a:latin typeface="Helvetica Neue"/>
                <a:sym typeface="Helvetica Neue"/>
              </a:rPr>
              <a:t>LUIS ARTURO PADILLA HERNANDEZ</a:t>
            </a:r>
          </a:p>
          <a:p>
            <a:pPr algn="ctr" defTabSz="1219169" hangingPunct="0"/>
            <a:r>
              <a:rPr lang="es-MX" sz="1000" b="1" kern="0" dirty="0">
                <a:solidFill>
                  <a:srgbClr val="D5D5D5">
                    <a:lumMod val="10000"/>
                  </a:srgbClr>
                </a:solidFill>
                <a:latin typeface="Helvetica Neue"/>
                <a:sym typeface="Helvetica Neue"/>
              </a:rPr>
              <a:t>(a) 'CUCHILLO '</a:t>
            </a:r>
          </a:p>
        </p:txBody>
      </p:sp>
      <p:sp>
        <p:nvSpPr>
          <p:cNvPr id="9" name="CuadroTexto 8">
            <a:extLst>
              <a:ext uri="{FF2B5EF4-FFF2-40B4-BE49-F238E27FC236}">
                <a16:creationId xmlns:a16="http://schemas.microsoft.com/office/drawing/2014/main" id="{30351AD1-E07B-4A71-9B0F-C13A755BC74E}"/>
              </a:ext>
              <a:ext uri="{C183D7F6-B498-43B3-948B-1728B52AA6E4}">
                <adec:decorative xmlns:adec="http://schemas.microsoft.com/office/drawing/2017/decorative" val="0"/>
              </a:ext>
            </a:extLst>
          </p:cNvPr>
          <p:cNvSpPr txBox="1"/>
          <p:nvPr/>
        </p:nvSpPr>
        <p:spPr>
          <a:xfrm>
            <a:off x="535322" y="4736644"/>
            <a:ext cx="1426372"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200" b="1" kern="0" dirty="0">
                <a:solidFill>
                  <a:srgbClr val="D5D5D5">
                    <a:lumMod val="10000"/>
                  </a:srgbClr>
                </a:solidFill>
                <a:latin typeface="Helvetica Neue"/>
                <a:sym typeface="Helvetica Neue"/>
              </a:rPr>
              <a:t>Objetivo detenido</a:t>
            </a:r>
          </a:p>
        </p:txBody>
      </p:sp>
      <p:sp>
        <p:nvSpPr>
          <p:cNvPr id="11" name="Rectángulo: esquinas redondeadas 10">
            <a:extLst>
              <a:ext uri="{FF2B5EF4-FFF2-40B4-BE49-F238E27FC236}">
                <a16:creationId xmlns:a16="http://schemas.microsoft.com/office/drawing/2014/main" id="{DCBA5AE1-928F-4078-8BDA-87D77C1A9140}"/>
              </a:ext>
              <a:ext uri="{C183D7F6-B498-43B3-948B-1728B52AA6E4}">
                <adec:decorative xmlns:adec="http://schemas.microsoft.com/office/drawing/2017/decorative" val="0"/>
              </a:ext>
            </a:extLst>
          </p:cNvPr>
          <p:cNvSpPr/>
          <p:nvPr/>
        </p:nvSpPr>
        <p:spPr>
          <a:xfrm>
            <a:off x="375030" y="4690041"/>
            <a:ext cx="1746956" cy="329168"/>
          </a:xfrm>
          <a:prstGeom prst="roundRect">
            <a:avLst/>
          </a:prstGeom>
          <a:noFill/>
          <a:ln w="19050" cap="flat">
            <a:solidFill>
              <a:srgbClr val="00206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412750" hangingPunct="0"/>
            <a:endParaRPr lang="es-MX" sz="1600" kern="0">
              <a:solidFill>
                <a:srgbClr val="FFFFFF"/>
              </a:solidFill>
              <a:latin typeface="Helvetica Neue Medium"/>
              <a:ea typeface="Helvetica Neue Medium"/>
              <a:cs typeface="Helvetica Neue Medium"/>
              <a:sym typeface="Helvetica Neue Medium"/>
            </a:endParaRPr>
          </a:p>
        </p:txBody>
      </p:sp>
      <p:graphicFrame>
        <p:nvGraphicFramePr>
          <p:cNvPr id="12" name="Tabla 11">
            <a:extLst>
              <a:ext uri="{FF2B5EF4-FFF2-40B4-BE49-F238E27FC236}">
                <a16:creationId xmlns:a16="http://schemas.microsoft.com/office/drawing/2014/main" id="{7D086326-9674-4613-A1F6-30D70D726251}"/>
              </a:ext>
              <a:ext uri="{C183D7F6-B498-43B3-948B-1728B52AA6E4}">
                <adec:decorative xmlns:adec="http://schemas.microsoft.com/office/drawing/2017/decorative" val="0"/>
              </a:ext>
            </a:extLst>
          </p:cNvPr>
          <p:cNvGraphicFramePr>
            <a:graphicFrameLocks noGrp="1"/>
          </p:cNvGraphicFramePr>
          <p:nvPr>
            <p:extLst>
              <p:ext uri="{D42A27DB-BD31-4B8C-83A1-F6EECF244321}">
                <p14:modId xmlns:p14="http://schemas.microsoft.com/office/powerpoint/2010/main" val="3363756650"/>
              </p:ext>
            </p:extLst>
          </p:nvPr>
        </p:nvGraphicFramePr>
        <p:xfrm>
          <a:off x="2342571" y="872451"/>
          <a:ext cx="9255737" cy="5158857"/>
        </p:xfrm>
        <a:graphic>
          <a:graphicData uri="http://schemas.openxmlformats.org/drawingml/2006/table">
            <a:tbl>
              <a:tblPr firstRow="1" bandRow="1">
                <a:tableStyleId>{5940675A-B579-460E-94D1-54222C63F5DA}</a:tableStyleId>
              </a:tblPr>
              <a:tblGrid>
                <a:gridCol w="1821946">
                  <a:extLst>
                    <a:ext uri="{9D8B030D-6E8A-4147-A177-3AD203B41FA5}">
                      <a16:colId xmlns:a16="http://schemas.microsoft.com/office/drawing/2014/main" val="84531247"/>
                    </a:ext>
                  </a:extLst>
                </a:gridCol>
                <a:gridCol w="4416776">
                  <a:extLst>
                    <a:ext uri="{9D8B030D-6E8A-4147-A177-3AD203B41FA5}">
                      <a16:colId xmlns:a16="http://schemas.microsoft.com/office/drawing/2014/main" val="2002464751"/>
                    </a:ext>
                  </a:extLst>
                </a:gridCol>
                <a:gridCol w="3017015">
                  <a:extLst>
                    <a:ext uri="{9D8B030D-6E8A-4147-A177-3AD203B41FA5}">
                      <a16:colId xmlns:a16="http://schemas.microsoft.com/office/drawing/2014/main" val="3567498210"/>
                    </a:ext>
                  </a:extLst>
                </a:gridCol>
              </a:tblGrid>
              <a:tr h="77724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Antecedentes </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indent="0" algn="l">
                        <a:buFont typeface="Arial" panose="020B0604020202020204" pitchFamily="34" charset="0"/>
                        <a:buNone/>
                      </a:pPr>
                      <a:r>
                        <a:rPr kumimoji="0" lang="es-419" sz="1200" b="0" i="0" u="none" strike="noStrike" cap="none" spc="0" normalizeH="0" dirty="0">
                          <a:ln>
                            <a:noFill/>
                          </a:ln>
                          <a:solidFill>
                            <a:schemeClr val="bg2">
                              <a:lumMod val="10000"/>
                            </a:schemeClr>
                          </a:solidFill>
                          <a:effectLst/>
                          <a:latin typeface="+mj-lt"/>
                          <a:ea typeface="+mn-ea"/>
                          <a:cs typeface="+mn-cs"/>
                          <a:sym typeface="Helvetica Neue"/>
                        </a:rPr>
                        <a:t>
• Contra la Salud — 22/05/2020 17:50
• Abigeato (Robo rual) — 19/05/2011 20:30
• Abigeato (Robo rual) — 19/05/2011 20:00
• Robo calificado / Sin Detalle — 08/11/2004 12:30
• Robo calificado / Sin Detalle — 10/04/2003 16:00</a:t>
                      </a:r>
                      <a:endParaRPr kumimoji="0" lang="es-MX" sz="1200" b="0" i="0" u="none" strike="noStrike"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4260607246"/>
                  </a:ext>
                </a:extLst>
              </a:tr>
              <a:tr h="41148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Órdenes de aprehensión</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l"/>
                      <a:r>
                        <a:rPr kumimoji="0" lang="es-419" sz="1200" b="0" i="0" u="none" strike="noStrike" cap="none" spc="0" normalizeH="0" dirty="0">
                          <a:ln>
                            <a:noFill/>
                          </a:ln>
                          <a:solidFill>
                            <a:schemeClr val="bg2">
                              <a:lumMod val="10000"/>
                            </a:schemeClr>
                          </a:solidFill>
                          <a:effectLst/>
                          <a:latin typeface="+mj-lt"/>
                          <a:ea typeface="+mn-ea"/>
                          <a:cs typeface="+mn-cs"/>
                          <a:sym typeface="Helvetica Neue"/>
                        </a:rPr>
                        <a:t>
• ROBO CALIFICADO — CUMPLIMENTADA
• ROBO CALIFICADO — CANCELADO
• DESAPARICION FORZADA DE PERSONAS — CUMPLIMENTADA
• CONTRA LA SALUD — CUMPLIMENTADA
• PRIVACION ILEGAL DE LA LIBERTAD — CUMPLIMENTADA</a:t>
                      </a:r>
                      <a:endParaRPr kumimoji="0" lang="es-MX" sz="1200" b="0" i="0" u="none" strike="noStrike"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601757136"/>
                  </a:ext>
                </a:extLst>
              </a:tr>
              <a:tr h="1867017">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Asuntos relacionados </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just">
                        <a:buFont typeface="Arial" panose="020B0604020202020204" pitchFamily="34" charset="0"/>
                        <a:buNone/>
                      </a:pPr>
                      <a:r>
                        <a:rPr kumimoji="0" lang="es-MX" sz="1200" b="1" i="0" u="none" strike="noStrike" kern="1200" cap="none" spc="0" normalizeH="0" dirty="0">
                          <a:ln>
                            <a:noFill/>
                          </a:ln>
                          <a:solidFill>
                            <a:schemeClr val="bg2">
                              <a:lumMod val="10000"/>
                            </a:schemeClr>
                          </a:solidFill>
                          <a:effectLst/>
                          <a:latin typeface="+mj-lt"/>
                          <a:ea typeface="+mn-ea"/>
                          <a:cs typeface="+mn-cs"/>
                          <a:sym typeface="Helvetica Neue"/>
                        </a:rPr>
                        <a:t>Caso doña Juana  LEO Occisos Ma. Juana Montoya Gonzáles y Juan Gabriel Gutiérrez Marín, hechos ocurridos el 27 de junio de 2022, cuando las victimas en primera instancia fueron privados de su libertad en su domicilio ubicado en el municipio de Rincón de Romos y posteriormente  localizados sin vida en las inmediaciones del predio rustico “el charquito
LEO 588</a:t>
                      </a: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just">
                        <a:buFont typeface="Arial" panose="020B0604020202020204" pitchFamily="34" charset="0"/>
                        <a:buNone/>
                      </a:pPr>
                      <a:r>
                        <a:rPr lang="es-MX" sz="1200" b="0" i="0" u="none" strike="noStrike" kern="1200" cap="none" spc="0" baseline="0">
                          <a:solidFill>
                            <a:schemeClr val="bg2">
                              <a:lumMod val="10000"/>
                            </a:schemeClr>
                          </a:solidFill>
                          <a:uFillTx/>
                          <a:latin typeface="+mj-lt"/>
                          <a:ea typeface="+mn-ea"/>
                          <a:cs typeface="+mn-cs"/>
                          <a:sym typeface="Helvetica Neue"/>
                        </a:rPr>
                        <a:t>Fujitivo altamente peligroso</a:t>
                      </a:r>
                      <a:endParaRPr lang="es-MX" sz="1200" b="0" i="0" u="none" strike="noStrike" kern="1200" cap="none" spc="0" baseline="0" dirty="0">
                        <a:solidFill>
                          <a:schemeClr val="bg2">
                            <a:lumMod val="10000"/>
                          </a:schemeClr>
                        </a:solidFill>
                        <a:uFillTx/>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47750782"/>
                  </a:ext>
                </a:extLst>
              </a:tr>
              <a:tr h="96012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Sentencia</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just" defTabSz="584200" rtl="0" eaLnBrk="1" fontAlgn="auto" latinLnBrk="0" hangingPunct="1">
                        <a:lnSpc>
                          <a:spcPct val="100000"/>
                        </a:lnSpc>
                        <a:spcBef>
                          <a:spcPts val="0"/>
                        </a:spcBef>
                        <a:spcAft>
                          <a:spcPts val="0"/>
                        </a:spcAft>
                        <a:buClrTx/>
                        <a:buSzTx/>
                        <a:buFontTx/>
                        <a:buNone/>
                        <a:tabLst/>
                        <a:defRPr/>
                      </a:pPr>
                      <a:r>
                        <a:rPr lang="es-MX" sz="1200" kern="1200" dirty="0">
                          <a:solidFill>
                            <a:schemeClr val="bg2">
                              <a:lumMod val="10000"/>
                            </a:schemeClr>
                          </a:solidFill>
                          <a:latin typeface="+mj-lt"/>
                          <a:ea typeface="+mn-ea"/>
                          <a:cs typeface="+mn-cs"/>
                        </a:rPr>
                        <a:t>Sentenciado, Se sentencio por violación a la persona</a:t>
                      </a: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1778621528"/>
                  </a:ext>
                </a:extLst>
              </a:tr>
              <a:tr h="114300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Estatus jurídico</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just"/>
                      <a:r>
                        <a:rPr kumimoji="0" lang="es-MX" sz="1200" b="1" i="0" u="none" strike="noStrike" cap="none" spc="0" normalizeH="0" dirty="0">
                          <a:ln>
                            <a:noFill/>
                          </a:ln>
                          <a:solidFill>
                            <a:srgbClr val="002060"/>
                          </a:solidFill>
                          <a:effectLst/>
                          <a:latin typeface="+mj-lt"/>
                          <a:ea typeface="+mn-ea"/>
                          <a:cs typeface="+mn-cs"/>
                          <a:sym typeface="Helvetica Neue"/>
                        </a:rPr>
                        <a:t>
• CI/AGS/01228/01-23 Privación ilegal de la libertad
• CI/AGS/01718/01-23 Contra la Salud
• CI/AGS/06518/03-23 Privación ilegal de la libertad
• CI/AGS/11529/05-20 Contra la Salud
• DGAP/AGS/06938/05-11 Robo calificado</a:t>
                      </a:r>
                      <a:endParaRPr kumimoji="0" lang="es-MX" sz="1200" b="0" i="0" u="none" strike="noStrike"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554105151"/>
                  </a:ext>
                </a:extLst>
              </a:tr>
            </a:tbl>
          </a:graphicData>
        </a:graphic>
      </p:graphicFrame>
      <p:pic>
        <p:nvPicPr>
          <p:cNvPr id="13" name="Imagen 12">
            <a:extLst>
              <a:ext uri="{FF2B5EF4-FFF2-40B4-BE49-F238E27FC236}">
                <a16:creationId xmlns:a16="http://schemas.microsoft.com/office/drawing/2014/main" id="{F3E4DB8D-4053-4584-8E16-FD3B10A1C1B7}"/>
              </a:ext>
              <a:ext uri="{C183D7F6-B498-43B3-948B-1728B52AA6E4}">
                <adec:decorative xmlns:adec="http://schemas.microsoft.com/office/drawing/2017/decorative" val="0"/>
              </a:ext>
            </a:extLst>
          </p:cNvPr>
          <p:cNvPicPr>
            <a:picLocks noChangeAspect="1"/>
          </p:cNvPicPr>
          <p:nvPr/>
        </p:nvPicPr>
        <p:blipFill rotWithShape="1">
          <a:blip r:embed="rId4">
            <a:extLst>
              <a:ext uri="{28A0092B-C50C-407E-A947-70E740481C1C}">
                <a14:useLocalDpi xmlns:a14="http://schemas.microsoft.com/office/drawing/2010/main" val="0"/>
              </a:ext>
            </a:extLst>
          </a:blip>
          <a:srcRect l="453" t="15439" r="-453" b="20541"/>
          <a:stretch/>
        </p:blipFill>
        <p:spPr>
          <a:xfrm>
            <a:off x="4517254" y="2781648"/>
            <a:ext cx="1370384" cy="1091957"/>
          </a:xfrm>
          <a:prstGeom prst="rect">
            <a:avLst/>
          </a:prstGeom>
        </p:spPr>
      </p:pic>
      <p:pic>
        <p:nvPicPr>
          <p:cNvPr id="14" name="Imagen 13">
            <a:extLst>
              <a:ext uri="{FF2B5EF4-FFF2-40B4-BE49-F238E27FC236}">
                <a16:creationId xmlns:a16="http://schemas.microsoft.com/office/drawing/2014/main" id="{78AD0D50-CEAB-4875-8FC7-D883FA47718A}"/>
              </a:ext>
              <a:ext uri="{C183D7F6-B498-43B3-948B-1728B52AA6E4}">
                <adec:decorative xmlns:adec="http://schemas.microsoft.com/office/drawing/2017/decorative" val="0"/>
              </a:ext>
            </a:extLst>
          </p:cNvPr>
          <p:cNvPicPr>
            <a:picLocks noChangeAspect="1"/>
          </p:cNvPicPr>
          <p:nvPr/>
        </p:nvPicPr>
        <p:blipFill rotWithShape="1">
          <a:blip r:embed="rId5">
            <a:extLst>
              <a:ext uri="{28A0092B-C50C-407E-A947-70E740481C1C}">
                <a14:useLocalDpi xmlns:a14="http://schemas.microsoft.com/office/drawing/2010/main" val="0"/>
              </a:ext>
            </a:extLst>
          </a:blip>
          <a:srcRect l="14776" b="36330"/>
          <a:stretch/>
        </p:blipFill>
        <p:spPr>
          <a:xfrm>
            <a:off x="6687005" y="2799457"/>
            <a:ext cx="1145979" cy="1091957"/>
          </a:xfrm>
          <a:prstGeom prst="rect">
            <a:avLst/>
          </a:prstGeom>
        </p:spPr>
      </p:pic>
      <p:sp>
        <p:nvSpPr>
          <p:cNvPr id="15" name="CuadroTexto 14">
            <a:extLst>
              <a:ext uri="{FF2B5EF4-FFF2-40B4-BE49-F238E27FC236}">
                <a16:creationId xmlns:a16="http://schemas.microsoft.com/office/drawing/2014/main" id="{892DDAC4-4E3B-42FD-8F24-EB68A85E8C14}"/>
              </a:ext>
              <a:ext uri="{C183D7F6-B498-43B3-948B-1728B52AA6E4}">
                <adec:decorative xmlns:adec="http://schemas.microsoft.com/office/drawing/2017/decorative" val="0"/>
              </a:ext>
            </a:extLst>
          </p:cNvPr>
          <p:cNvSpPr txBox="1"/>
          <p:nvPr/>
        </p:nvSpPr>
        <p:spPr>
          <a:xfrm>
            <a:off x="380448" y="3259050"/>
            <a:ext cx="1746956" cy="577081"/>
          </a:xfrm>
          <a:prstGeom prst="rect">
            <a:avLst/>
          </a:prstGeom>
          <a:noFill/>
          <a:ln w="19050">
            <a:solidFill>
              <a:srgbClr val="002060"/>
            </a:solidFill>
          </a:ln>
        </p:spPr>
        <p:txBody>
          <a:bodyPr wrap="square" rtlCol="0">
            <a:spAutoFit/>
          </a:bodyPr>
          <a:lstStyle/>
          <a:p>
            <a:pPr algn="ctr" defTabSz="1219169" hangingPunct="0"/>
            <a:r>
              <a:rPr lang="es-MX" sz="1050" b="1" kern="0" dirty="0">
                <a:solidFill>
                  <a:srgbClr val="D5D5D5">
                    <a:lumMod val="10000"/>
                  </a:srgbClr>
                </a:solidFill>
                <a:latin typeface="Helvetica Neue"/>
                <a:sym typeface="Helvetica Neue"/>
              </a:rPr>
              <a:t>Fecha de nacimiento: 10/10/1990</a:t>
            </a:r>
          </a:p>
          <a:p>
            <a:pPr algn="ctr" defTabSz="1219169" hangingPunct="0"/>
            <a:r>
              <a:rPr lang="es-MX" sz="1050" b="1" kern="0" dirty="0">
                <a:solidFill>
                  <a:srgbClr val="D5D5D5">
                    <a:lumMod val="10000"/>
                  </a:srgbClr>
                </a:solidFill>
                <a:latin typeface="Helvetica Neue"/>
                <a:sym typeface="Helvetica Neue"/>
              </a:rPr>
              <a:t>35 años</a:t>
            </a:r>
          </a:p>
        </p:txBody>
      </p:sp>
      <p:sp>
        <p:nvSpPr>
          <p:cNvPr id="16" name="CuadroTexto 15">
            <a:extLst>
              <a:ext uri="{FF2B5EF4-FFF2-40B4-BE49-F238E27FC236}">
                <a16:creationId xmlns:a16="http://schemas.microsoft.com/office/drawing/2014/main" id="{36DEA57A-0F2B-4205-9AEA-CDB8A26DFE03}"/>
              </a:ext>
              <a:ext uri="{C183D7F6-B498-43B3-948B-1728B52AA6E4}">
                <adec:decorative xmlns:adec="http://schemas.microsoft.com/office/drawing/2017/decorative" val="0"/>
              </a:ext>
            </a:extLst>
          </p:cNvPr>
          <p:cNvSpPr txBox="1"/>
          <p:nvPr/>
        </p:nvSpPr>
        <p:spPr>
          <a:xfrm>
            <a:off x="4158761" y="4230518"/>
            <a:ext cx="2087370"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200" dirty="0">
                <a:solidFill>
                  <a:srgbClr val="D5D5D5">
                    <a:lumMod val="10000"/>
                  </a:srgbClr>
                </a:solidFill>
                <a:latin typeface="Helvetica Neue"/>
                <a:sym typeface="Helvetica Neue"/>
              </a:rPr>
              <a:t>LEONARDO MORFIN ESQUIVEL</a:t>
            </a:r>
          </a:p>
        </p:txBody>
      </p:sp>
      <p:sp>
        <p:nvSpPr>
          <p:cNvPr id="17" name="CuadroTexto 16">
            <a:extLst>
              <a:ext uri="{FF2B5EF4-FFF2-40B4-BE49-F238E27FC236}">
                <a16:creationId xmlns:a16="http://schemas.microsoft.com/office/drawing/2014/main" id="{AB2E1746-7AB9-4030-9908-3CB3D9894222}"/>
              </a:ext>
              <a:ext uri="{C183D7F6-B498-43B3-948B-1728B52AA6E4}">
                <adec:decorative xmlns:adec="http://schemas.microsoft.com/office/drawing/2017/decorative" val="0"/>
              </a:ext>
            </a:extLst>
          </p:cNvPr>
          <p:cNvSpPr txBox="1"/>
          <p:nvPr/>
        </p:nvSpPr>
        <p:spPr>
          <a:xfrm>
            <a:off x="6560438" y="4212361"/>
            <a:ext cx="2087370"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200" dirty="0">
                <a:solidFill>
                  <a:srgbClr val="D5D5D5">
                    <a:lumMod val="10000"/>
                  </a:srgbClr>
                </a:solidFill>
                <a:latin typeface="Helvetica Neue"/>
                <a:sym typeface="Helvetica Neue"/>
              </a:rPr>
              <a:t>CARLOS LEONARDO CRUZ CARRILLO</a:t>
            </a:r>
          </a:p>
        </p:txBody>
      </p:sp>
      <p:sp>
        <p:nvSpPr>
          <p:cNvPr id="10" name="Rectángulo: esquinas redondeadas 9">
            <a:extLst>
              <a:ext uri="{FF2B5EF4-FFF2-40B4-BE49-F238E27FC236}">
                <a16:creationId xmlns:a16="http://schemas.microsoft.com/office/drawing/2014/main" id="{A867825B-864F-4860-8146-FF4726E50C0C}"/>
              </a:ext>
              <a:ext uri="{C183D7F6-B498-43B3-948B-1728B52AA6E4}">
                <adec:decorative xmlns:adec="http://schemas.microsoft.com/office/drawing/2017/decorative" val="0"/>
              </a:ext>
            </a:extLst>
          </p:cNvPr>
          <p:cNvSpPr/>
          <p:nvPr/>
        </p:nvSpPr>
        <p:spPr>
          <a:xfrm>
            <a:off x="375030" y="3981262"/>
            <a:ext cx="1746956" cy="431324"/>
          </a:xfrm>
          <a:prstGeom prst="roundRect">
            <a:avLst/>
          </a:prstGeom>
          <a:noFill/>
          <a:ln w="19050" cap="flat">
            <a:solidFill>
              <a:srgbClr val="00206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050" b="1" kern="0" dirty="0">
                <a:solidFill>
                  <a:srgbClr val="FF0000"/>
                </a:solidFill>
                <a:latin typeface="Helvetica Neue"/>
                <a:sym typeface="Helvetica Neue"/>
              </a:rPr>
              <a:t>CJNG</a:t>
            </a:r>
          </a:p>
          <a:p>
            <a:pPr algn="ctr" defTabSz="1219169" hangingPunct="0"/>
            <a:r>
              <a:rPr lang="es-MX" sz="1050" b="1" kern="0" dirty="0">
                <a:solidFill>
                  <a:srgbClr val="D5D5D5">
                    <a:lumMod val="10000"/>
                  </a:srgbClr>
                </a:solidFill>
                <a:latin typeface="Helvetica Neue"/>
                <a:sym typeface="Helvetica Neue"/>
              </a:rPr>
              <a:t>Función: EJECUTOR </a:t>
            </a:r>
          </a:p>
        </p:txBody>
      </p:sp>
    </p:spTree>
    <p:extLst>
      <p:ext uri="{BB962C8B-B14F-4D97-AF65-F5344CB8AC3E}">
        <p14:creationId xmlns:p14="http://schemas.microsoft.com/office/powerpoint/2010/main" val="2376095208"/>
      </p:ext>
    </p:extLst>
  </p:cSld>
  <p:clrMapOvr>
    <a:masterClrMapping/>
  </p:clrMapOvr>
</p:sld>
</file>

<file path=ppt/slides/slide3.xml><?xml version="1.0" encoding="utf-8"?>
<p:sld xmlns:a16="http://schemas.microsoft.com/office/drawing/2014/main" xmlns:adec="http://schemas.microsoft.com/office/drawing/2017/decorative" xmlns:a14="http://schemas.microsoft.com/office/drawing/2010/main" xmlns:ma14="http://schemas.microsoft.com/office/mac/drawingml/2011/main" xmlns:m="http://schemas.openxmlformats.org/officeDocument/2006/math"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FONDO]" descr="[FONDO]">
            <a:extLst>
              <a:ext uri="{FF2B5EF4-FFF2-40B4-BE49-F238E27FC236}">
                <a16:creationId xmlns:a16="http://schemas.microsoft.com/office/drawing/2014/main" id="{550B94DC-8083-409B-A0AE-8E5F92888076}"/>
              </a:ext>
            </a:extLst>
          </p:cNvPr>
          <p:cNvPicPr>
            <a:picLocks noChangeAspect="1"/>
          </p:cNvPicPr>
          <p:nvPr/>
        </p:nvPicPr>
        <p:blipFill>
          <a:blip r:embed="Rb687c3b98b134a92"/>
          <a:stretch>
            <a:fillRect/>
          </a:stretch>
        </p:blipFill>
        <p:spPr>
          <a:xfrm>
            <a:off x="0" y="9634"/>
            <a:ext cx="12192000" cy="6838731"/>
          </a:xfrm>
          <a:prstGeom prst="rect">
            <a:avLst/>
          </a:prstGeom>
        </p:spPr>
      </p:pic>
      <p:pic>
        <p:nvPicPr>
          <p:cNvPr id="6" name="[FP]" descr="[FP]">
            <a:extLst>
              <a:ext uri="{FF2B5EF4-FFF2-40B4-BE49-F238E27FC236}">
                <a16:creationId xmlns:a16="http://schemas.microsoft.com/office/drawing/2014/main" id="{96BB27C3-171F-415B-955E-00B05E76B932}"/>
              </a:ext>
              <a:ext uri="{C183D7F6-B498-43B3-948B-1728B52AA6E4}">
                <adec:decorative xmlns:adec="http://schemas.microsoft.com/office/drawing/2017/decorative" val="0"/>
              </a:ext>
            </a:extLst>
          </p:cNvPr>
          <p:cNvPicPr>
            <a:picLocks noChangeAspect="1"/>
          </p:cNvPicPr>
          <p:nvPr/>
        </p:nvPicPr>
        <p:blipFill rotWithShape="1">
          <a:blip r:embed="R15d00f4c93114687">
            <a:extLst>
              <a:ext uri="{28A0092B-C50C-407E-A947-70E740481C1C}">
                <a14:useLocalDpi xmlns:a14="http://schemas.microsoft.com/office/drawing/2010/main" val="0"/>
              </a:ext>
            </a:extLst>
          </a:blip>
          <a:srcRect l="13321" r="5707" b="43686"/>
          <a:stretch/>
        </p:blipFill>
        <p:spPr>
          <a:xfrm>
            <a:off x="375030" y="872451"/>
            <a:ext cx="1746956" cy="1783408"/>
          </a:xfrm>
          <a:prstGeom prst="rect">
            <a:avLst/>
          </a:prstGeom>
          <a:ln w="1905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val="1"/>
            </a:ext>
          </a:extLst>
        </p:spPr>
      </p:pic>
      <p:sp>
        <p:nvSpPr>
          <p:cNvPr id="7" name="CuadroTexto 6">
            <a:extLst>
              <a:ext uri="{FF2B5EF4-FFF2-40B4-BE49-F238E27FC236}">
                <a16:creationId xmlns:a16="http://schemas.microsoft.com/office/drawing/2014/main" id="{3D74CD59-3E7C-4914-8600-4A1E85442772}"/>
              </a:ext>
              <a:ext uri="{C183D7F6-B498-43B3-948B-1728B52AA6E4}">
                <adec:decorative xmlns:adec="http://schemas.microsoft.com/office/drawing/2017/decorative" val="0"/>
              </a:ext>
            </a:extLst>
          </p:cNvPr>
          <p:cNvSpPr txBox="1"/>
          <p:nvPr/>
        </p:nvSpPr>
        <p:spPr>
          <a:xfrm>
            <a:off x="375030" y="2676896"/>
            <a:ext cx="1746956" cy="400110"/>
          </a:xfrm>
          <a:prstGeom prst="rect">
            <a:avLst/>
          </a:prstGeom>
          <a:noFill/>
          <a:ln w="19050">
            <a:solidFill>
              <a:srgbClr val="002060"/>
            </a:solidFill>
          </a:ln>
        </p:spPr>
        <p:txBody>
          <a:bodyPr wrap="square" rtlCol="0">
            <a:spAutoFit/>
          </a:bodyPr>
          <a:lstStyle/>
          <a:p>
            <a:pPr algn="ctr" defTabSz="1219169" hangingPunct="0"/>
            <a:r>
              <a:rPr lang="es-MX" sz="1000" b="1" kern="0" dirty="0">
                <a:solidFill>
                  <a:srgbClr val="D5D5D5">
                    <a:lumMod val="10000"/>
                  </a:srgbClr>
                </a:solidFill>
                <a:latin typeface="Helvetica Neue"/>
                <a:sym typeface="Helvetica Neue"/>
              </a:rPr>
              <a:t>RICARDO OMAR HERRERA GUERRERO</a:t>
            </a:r>
          </a:p>
          <a:p>
            <a:pPr algn="ctr" defTabSz="1219169" hangingPunct="0"/>
            <a:r>
              <a:rPr lang="es-MX" sz="1000" b="1" kern="0" dirty="0">
                <a:solidFill>
                  <a:srgbClr val="D5D5D5">
                    <a:lumMod val="10000"/>
                  </a:srgbClr>
                </a:solidFill>
                <a:latin typeface="Helvetica Neue"/>
                <a:sym typeface="Helvetica Neue"/>
              </a:rPr>
              <a:t>(a) 'EL CHASCAS '</a:t>
            </a:r>
          </a:p>
        </p:txBody>
      </p:sp>
      <p:sp>
        <p:nvSpPr>
          <p:cNvPr id="9" name="CuadroTexto 8">
            <a:extLst>
              <a:ext uri="{FF2B5EF4-FFF2-40B4-BE49-F238E27FC236}">
                <a16:creationId xmlns:a16="http://schemas.microsoft.com/office/drawing/2014/main" id="{30351AD1-E07B-4A71-9B0F-C13A755BC74E}"/>
              </a:ext>
              <a:ext uri="{C183D7F6-B498-43B3-948B-1728B52AA6E4}">
                <adec:decorative xmlns:adec="http://schemas.microsoft.com/office/drawing/2017/decorative" val="0"/>
              </a:ext>
            </a:extLst>
          </p:cNvPr>
          <p:cNvSpPr txBox="1"/>
          <p:nvPr/>
        </p:nvSpPr>
        <p:spPr>
          <a:xfrm>
            <a:off x="535322" y="4736644"/>
            <a:ext cx="1426372"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200" b="1" kern="0" dirty="0">
                <a:solidFill>
                  <a:srgbClr val="D5D5D5">
                    <a:lumMod val="10000"/>
                  </a:srgbClr>
                </a:solidFill>
                <a:latin typeface="Helvetica Neue"/>
                <a:sym typeface="Helvetica Neue"/>
              </a:rPr>
              <a:t>Objetivo detenido</a:t>
            </a:r>
          </a:p>
        </p:txBody>
      </p:sp>
      <p:sp>
        <p:nvSpPr>
          <p:cNvPr id="11" name="Rectángulo: esquinas redondeadas 10">
            <a:extLst>
              <a:ext uri="{FF2B5EF4-FFF2-40B4-BE49-F238E27FC236}">
                <a16:creationId xmlns:a16="http://schemas.microsoft.com/office/drawing/2014/main" id="{DCBA5AE1-928F-4078-8BDA-87D77C1A9140}"/>
              </a:ext>
              <a:ext uri="{C183D7F6-B498-43B3-948B-1728B52AA6E4}">
                <adec:decorative xmlns:adec="http://schemas.microsoft.com/office/drawing/2017/decorative" val="0"/>
              </a:ext>
            </a:extLst>
          </p:cNvPr>
          <p:cNvSpPr/>
          <p:nvPr/>
        </p:nvSpPr>
        <p:spPr>
          <a:xfrm>
            <a:off x="375030" y="4690041"/>
            <a:ext cx="1746956" cy="329168"/>
          </a:xfrm>
          <a:prstGeom prst="roundRect">
            <a:avLst/>
          </a:prstGeom>
          <a:noFill/>
          <a:ln w="19050" cap="flat">
            <a:solidFill>
              <a:srgbClr val="00206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412750" hangingPunct="0"/>
            <a:endParaRPr lang="es-MX" sz="1600" kern="0">
              <a:solidFill>
                <a:srgbClr val="FFFFFF"/>
              </a:solidFill>
              <a:latin typeface="Helvetica Neue Medium"/>
              <a:ea typeface="Helvetica Neue Medium"/>
              <a:cs typeface="Helvetica Neue Medium"/>
              <a:sym typeface="Helvetica Neue Medium"/>
            </a:endParaRPr>
          </a:p>
        </p:txBody>
      </p:sp>
      <p:graphicFrame>
        <p:nvGraphicFramePr>
          <p:cNvPr id="12" name="Tabla 11">
            <a:extLst>
              <a:ext uri="{FF2B5EF4-FFF2-40B4-BE49-F238E27FC236}">
                <a16:creationId xmlns:a16="http://schemas.microsoft.com/office/drawing/2014/main" id="{7D086326-9674-4613-A1F6-30D70D726251}"/>
              </a:ext>
              <a:ext uri="{C183D7F6-B498-43B3-948B-1728B52AA6E4}">
                <adec:decorative xmlns:adec="http://schemas.microsoft.com/office/drawing/2017/decorative" val="0"/>
              </a:ext>
            </a:extLst>
          </p:cNvPr>
          <p:cNvGraphicFramePr>
            <a:graphicFrameLocks noGrp="1"/>
          </p:cNvGraphicFramePr>
          <p:nvPr>
            <p:extLst>
              <p:ext uri="{D42A27DB-BD31-4B8C-83A1-F6EECF244321}">
                <p14:modId xmlns:p14="http://schemas.microsoft.com/office/powerpoint/2010/main" val="3363756650"/>
              </p:ext>
            </p:extLst>
          </p:nvPr>
        </p:nvGraphicFramePr>
        <p:xfrm>
          <a:off x="2342571" y="872451"/>
          <a:ext cx="9255737" cy="5158857"/>
        </p:xfrm>
        <a:graphic>
          <a:graphicData uri="http://schemas.openxmlformats.org/drawingml/2006/table">
            <a:tbl>
              <a:tblPr firstRow="1" bandRow="1">
                <a:tableStyleId>{5940675A-B579-460E-94D1-54222C63F5DA}</a:tableStyleId>
              </a:tblPr>
              <a:tblGrid>
                <a:gridCol w="1821946">
                  <a:extLst>
                    <a:ext uri="{9D8B030D-6E8A-4147-A177-3AD203B41FA5}">
                      <a16:colId xmlns:a16="http://schemas.microsoft.com/office/drawing/2014/main" val="84531247"/>
                    </a:ext>
                  </a:extLst>
                </a:gridCol>
                <a:gridCol w="4416776">
                  <a:extLst>
                    <a:ext uri="{9D8B030D-6E8A-4147-A177-3AD203B41FA5}">
                      <a16:colId xmlns:a16="http://schemas.microsoft.com/office/drawing/2014/main" val="2002464751"/>
                    </a:ext>
                  </a:extLst>
                </a:gridCol>
                <a:gridCol w="3017015">
                  <a:extLst>
                    <a:ext uri="{9D8B030D-6E8A-4147-A177-3AD203B41FA5}">
                      <a16:colId xmlns:a16="http://schemas.microsoft.com/office/drawing/2014/main" val="3567498210"/>
                    </a:ext>
                  </a:extLst>
                </a:gridCol>
              </a:tblGrid>
              <a:tr h="77724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Antecedentes </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indent="0" algn="l">
                        <a:buFont typeface="Arial" panose="020B0604020202020204" pitchFamily="34" charset="0"/>
                        <a:buNone/>
                      </a:pPr>
                      <a:r>
                        <a:rPr kumimoji="0" lang="es-419" sz="1200" b="0" i="0" u="none" strike="noStrike" cap="none" spc="0" normalizeH="0" dirty="0">
                          <a:ln>
                            <a:noFill/>
                          </a:ln>
                          <a:solidFill>
                            <a:schemeClr val="bg2">
                              <a:lumMod val="10000"/>
                            </a:schemeClr>
                          </a:solidFill>
                          <a:effectLst/>
                          <a:latin typeface="+mj-lt"/>
                          <a:ea typeface="+mn-ea"/>
                          <a:cs typeface="+mn-cs"/>
                          <a:sym typeface="Helvetica Neue"/>
                        </a:rPr>
                        <a:t>
• Contra la Salud — 11/10/2019 10:10</a:t>
                      </a:r>
                      <a:endParaRPr kumimoji="0" lang="es-MX" sz="1200" b="0" i="0" u="none" strike="noStrike"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4260607246"/>
                  </a:ext>
                </a:extLst>
              </a:tr>
              <a:tr h="41148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Órdenes de aprehensión</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l"/>
                      <a:r>
                        <a:rPr kumimoji="0" lang="es-419" sz="1200" b="0" i="0" u="none" strike="noStrike" cap="none" spc="0" normalizeH="0" dirty="0">
                          <a:ln>
                            <a:noFill/>
                          </a:ln>
                          <a:solidFill>
                            <a:schemeClr val="bg2">
                              <a:lumMod val="10000"/>
                            </a:schemeClr>
                          </a:solidFill>
                          <a:effectLst/>
                          <a:latin typeface="+mj-lt"/>
                          <a:ea typeface="+mn-ea"/>
                          <a:cs typeface="+mn-cs"/>
                          <a:sym typeface="Helvetica Neue"/>
                        </a:rPr>
                        <a:t>
• DESAPARICION FORZADA DE PERSONAS — CUMPLIMENTADA</a:t>
                      </a:r>
                      <a:endParaRPr kumimoji="0" lang="es-MX" sz="1200" b="0" i="0" u="none" strike="noStrike"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601757136"/>
                  </a:ext>
                </a:extLst>
              </a:tr>
              <a:tr h="1867017">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Asuntos relacionados </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just">
                        <a:buFont typeface="Arial" panose="020B0604020202020204" pitchFamily="34" charset="0"/>
                        <a:buNone/>
                      </a:pPr>
                      <a:r>
                        <a:rPr kumimoji="0" lang="es-MX" sz="1200" b="1" i="0" u="none" strike="noStrike" kern="1200" cap="none" spc="0" normalizeH="0" dirty="0">
                          <a:ln>
                            <a:noFill/>
                          </a:ln>
                          <a:solidFill>
                            <a:schemeClr val="bg2">
                              <a:lumMod val="10000"/>
                            </a:schemeClr>
                          </a:solidFill>
                          <a:effectLst/>
                          <a:latin typeface="+mj-lt"/>
                          <a:ea typeface="+mn-ea"/>
                          <a:cs typeface="+mn-cs"/>
                          <a:sym typeface="Helvetica Neue"/>
                        </a:rPr>
                        <a:t>Sin Alias del Caso Hechos ocurridos el día 09 de marzo del 2023, cuando RICARDO OMAR HERRERA GUERRERO ALÍAS “PIOJO” Y/O “EL CHASCAS” Y/O “CHASQUERO”, irrumpió en el domicilio  ubicado en  calle 16 de septiembre Sur, número 706, en la Colonia Independencia, perteneciente al Municipio de Rincón de Romos, Aguascalientes, cuando las victimas de identidad reservada Victimas de identidad reservada A.G.P.H. y U.F.R.O. (Aún no localizadas) se encontraban en el interior. Sacándolas de dicho domicilio y llevándoselas a bordo de un vehículo, esto haciendo uso de la violencia, sin que hasta el momento se conozca su paradero. 
</a:t>
                      </a: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just">
                        <a:buFont typeface="Arial" panose="020B0604020202020204" pitchFamily="34" charset="0"/>
                        <a:buNone/>
                      </a:pPr>
                      <a:r>
                        <a:rPr lang="es-MX" sz="1200" b="0" i="0" u="none" strike="noStrike" kern="1200" cap="none" spc="0" baseline="0">
                          <a:solidFill>
                            <a:schemeClr val="bg2">
                              <a:lumMod val="10000"/>
                            </a:schemeClr>
                          </a:solidFill>
                          <a:uFillTx/>
                          <a:latin typeface="+mj-lt"/>
                          <a:ea typeface="+mn-ea"/>
                          <a:cs typeface="+mn-cs"/>
                          <a:sym typeface="Helvetica Neue"/>
                        </a:rPr>
                        <a:t/>
                      </a:r>
                      <a:endParaRPr lang="es-MX" sz="1200" b="0" i="0" u="none" strike="noStrike" kern="1200" cap="none" spc="0" baseline="0" dirty="0">
                        <a:solidFill>
                          <a:schemeClr val="bg2">
                            <a:lumMod val="10000"/>
                          </a:schemeClr>
                        </a:solidFill>
                        <a:uFillTx/>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47750782"/>
                  </a:ext>
                </a:extLst>
              </a:tr>
              <a:tr h="96012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Sentencia</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just" defTabSz="584200" rtl="0" eaLnBrk="1" fontAlgn="auto" latinLnBrk="0" hangingPunct="1">
                        <a:lnSpc>
                          <a:spcPct val="100000"/>
                        </a:lnSpc>
                        <a:spcBef>
                          <a:spcPts val="0"/>
                        </a:spcBef>
                        <a:spcAft>
                          <a:spcPts val="0"/>
                        </a:spcAft>
                        <a:buClrTx/>
                        <a:buSzTx/>
                        <a:buFontTx/>
                        <a:buNone/>
                        <a:tabLst/>
                        <a:defRPr/>
                      </a:pPr>
                      <a:r>
                        <a:rPr lang="es-MX" sz="1200" kern="1200" dirty="0">
                          <a:solidFill>
                            <a:schemeClr val="bg2">
                              <a:lumMod val="10000"/>
                            </a:schemeClr>
                          </a:solidFill>
                          <a:latin typeface="+mj-lt"/>
                          <a:ea typeface="+mn-ea"/>
                          <a:cs typeface="+mn-cs"/>
                        </a:rPr>
                        <a:t>Sentenciado, se sentencio por violacion</a:t>
                      </a: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1778621528"/>
                  </a:ext>
                </a:extLst>
              </a:tr>
              <a:tr h="114300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Estatus jurídico</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just"/>
                      <a:r>
                        <a:rPr kumimoji="0" lang="es-MX" sz="1200" b="1" i="0" u="none" strike="noStrike" cap="none" spc="0" normalizeH="0" dirty="0">
                          <a:ln>
                            <a:noFill/>
                          </a:ln>
                          <a:solidFill>
                            <a:srgbClr val="002060"/>
                          </a:solidFill>
                          <a:effectLst/>
                          <a:latin typeface="+mj-lt"/>
                          <a:ea typeface="+mn-ea"/>
                          <a:cs typeface="+mn-cs"/>
                          <a:sym typeface="Helvetica Neue"/>
                        </a:rPr>
                        <a:t>
• CI/AGS/06518/03-23 Privación ilegal de la libertad
• CI/RIN/00175/03-23 Contra la Salud
• CI/RIN/00270/05-17 Robo calificado
• CI/RIN/00343/05-23 Contra la Salud
• CI/RIN/00351/06-22 Robo calificado</a:t>
                      </a:r>
                      <a:endParaRPr kumimoji="0" lang="es-MX" sz="1200" b="0" i="0" u="none" strike="noStrike"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554105151"/>
                  </a:ext>
                </a:extLst>
              </a:tr>
            </a:tbl>
          </a:graphicData>
        </a:graphic>
      </p:graphicFrame>
      <p:pic>
        <p:nvPicPr>
          <p:cNvPr id="13" name="Imagen 12">
            <a:extLst>
              <a:ext uri="{FF2B5EF4-FFF2-40B4-BE49-F238E27FC236}">
                <a16:creationId xmlns:a16="http://schemas.microsoft.com/office/drawing/2014/main" id="{F3E4DB8D-4053-4584-8E16-FD3B10A1C1B7}"/>
              </a:ext>
              <a:ext uri="{C183D7F6-B498-43B3-948B-1728B52AA6E4}">
                <adec:decorative xmlns:adec="http://schemas.microsoft.com/office/drawing/2017/decorative" val="0"/>
              </a:ext>
            </a:extLst>
          </p:cNvPr>
          <p:cNvPicPr>
            <a:picLocks noChangeAspect="1"/>
          </p:cNvPicPr>
          <p:nvPr/>
        </p:nvPicPr>
        <p:blipFill rotWithShape="1">
          <a:blip r:embed="rId4">
            <a:extLst>
              <a:ext uri="{28A0092B-C50C-407E-A947-70E740481C1C}">
                <a14:useLocalDpi xmlns:a14="http://schemas.microsoft.com/office/drawing/2010/main" val="0"/>
              </a:ext>
            </a:extLst>
          </a:blip>
          <a:srcRect l="453" t="15439" r="-453" b="20541"/>
          <a:stretch/>
        </p:blipFill>
        <p:spPr>
          <a:xfrm>
            <a:off x="4517254" y="2781648"/>
            <a:ext cx="1370384" cy="1091957"/>
          </a:xfrm>
          <a:prstGeom prst="rect">
            <a:avLst/>
          </a:prstGeom>
        </p:spPr>
      </p:pic>
      <p:pic>
        <p:nvPicPr>
          <p:cNvPr id="14" name="Imagen 13">
            <a:extLst>
              <a:ext uri="{FF2B5EF4-FFF2-40B4-BE49-F238E27FC236}">
                <a16:creationId xmlns:a16="http://schemas.microsoft.com/office/drawing/2014/main" id="{78AD0D50-CEAB-4875-8FC7-D883FA47718A}"/>
              </a:ext>
              <a:ext uri="{C183D7F6-B498-43B3-948B-1728B52AA6E4}">
                <adec:decorative xmlns:adec="http://schemas.microsoft.com/office/drawing/2017/decorative" val="0"/>
              </a:ext>
            </a:extLst>
          </p:cNvPr>
          <p:cNvPicPr>
            <a:picLocks noChangeAspect="1"/>
          </p:cNvPicPr>
          <p:nvPr/>
        </p:nvPicPr>
        <p:blipFill rotWithShape="1">
          <a:blip r:embed="rId5">
            <a:extLst>
              <a:ext uri="{28A0092B-C50C-407E-A947-70E740481C1C}">
                <a14:useLocalDpi xmlns:a14="http://schemas.microsoft.com/office/drawing/2010/main" val="0"/>
              </a:ext>
            </a:extLst>
          </a:blip>
          <a:srcRect l="14776" b="36330"/>
          <a:stretch/>
        </p:blipFill>
        <p:spPr>
          <a:xfrm>
            <a:off x="6687005" y="2799457"/>
            <a:ext cx="1145979" cy="1091957"/>
          </a:xfrm>
          <a:prstGeom prst="rect">
            <a:avLst/>
          </a:prstGeom>
        </p:spPr>
      </p:pic>
      <p:sp>
        <p:nvSpPr>
          <p:cNvPr id="15" name="CuadroTexto 14">
            <a:extLst>
              <a:ext uri="{FF2B5EF4-FFF2-40B4-BE49-F238E27FC236}">
                <a16:creationId xmlns:a16="http://schemas.microsoft.com/office/drawing/2014/main" id="{892DDAC4-4E3B-42FD-8F24-EB68A85E8C14}"/>
              </a:ext>
              <a:ext uri="{C183D7F6-B498-43B3-948B-1728B52AA6E4}">
                <adec:decorative xmlns:adec="http://schemas.microsoft.com/office/drawing/2017/decorative" val="0"/>
              </a:ext>
            </a:extLst>
          </p:cNvPr>
          <p:cNvSpPr txBox="1"/>
          <p:nvPr/>
        </p:nvSpPr>
        <p:spPr>
          <a:xfrm>
            <a:off x="380448" y="3259050"/>
            <a:ext cx="1746956" cy="577081"/>
          </a:xfrm>
          <a:prstGeom prst="rect">
            <a:avLst/>
          </a:prstGeom>
          <a:noFill/>
          <a:ln w="19050">
            <a:solidFill>
              <a:srgbClr val="002060"/>
            </a:solidFill>
          </a:ln>
        </p:spPr>
        <p:txBody>
          <a:bodyPr wrap="square" rtlCol="0">
            <a:spAutoFit/>
          </a:bodyPr>
          <a:lstStyle/>
          <a:p>
            <a:pPr algn="ctr" defTabSz="1219169" hangingPunct="0"/>
            <a:r>
              <a:rPr lang="es-MX" sz="1050" b="1" kern="0" dirty="0">
                <a:solidFill>
                  <a:srgbClr val="D5D5D5">
                    <a:lumMod val="10000"/>
                  </a:srgbClr>
                </a:solidFill>
                <a:latin typeface="Helvetica Neue"/>
                <a:sym typeface="Helvetica Neue"/>
              </a:rPr>
              <a:t>Fecha de nacimiento: 10/10/1990</a:t>
            </a:r>
          </a:p>
          <a:p>
            <a:pPr algn="ctr" defTabSz="1219169" hangingPunct="0"/>
            <a:r>
              <a:rPr lang="es-MX" sz="1050" b="1" kern="0" dirty="0">
                <a:solidFill>
                  <a:srgbClr val="D5D5D5">
                    <a:lumMod val="10000"/>
                  </a:srgbClr>
                </a:solidFill>
                <a:latin typeface="Helvetica Neue"/>
                <a:sym typeface="Helvetica Neue"/>
              </a:rPr>
              <a:t>35 años</a:t>
            </a:r>
          </a:p>
        </p:txBody>
      </p:sp>
      <p:sp>
        <p:nvSpPr>
          <p:cNvPr id="16" name="CuadroTexto 15">
            <a:extLst>
              <a:ext uri="{FF2B5EF4-FFF2-40B4-BE49-F238E27FC236}">
                <a16:creationId xmlns:a16="http://schemas.microsoft.com/office/drawing/2014/main" id="{36DEA57A-0F2B-4205-9AEA-CDB8A26DFE03}"/>
              </a:ext>
              <a:ext uri="{C183D7F6-B498-43B3-948B-1728B52AA6E4}">
                <adec:decorative xmlns:adec="http://schemas.microsoft.com/office/drawing/2017/decorative" val="0"/>
              </a:ext>
            </a:extLst>
          </p:cNvPr>
          <p:cNvSpPr txBox="1"/>
          <p:nvPr/>
        </p:nvSpPr>
        <p:spPr>
          <a:xfrm>
            <a:off x="4158761" y="4230518"/>
            <a:ext cx="2087370"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200" dirty="0">
                <a:solidFill>
                  <a:srgbClr val="D5D5D5">
                    <a:lumMod val="10000"/>
                  </a:srgbClr>
                </a:solidFill>
                <a:latin typeface="Helvetica Neue"/>
                <a:sym typeface="Helvetica Neue"/>
              </a:rPr>
              <a:t/>
            </a:r>
          </a:p>
        </p:txBody>
      </p:sp>
      <p:sp>
        <p:nvSpPr>
          <p:cNvPr id="17" name="CuadroTexto 16">
            <a:extLst>
              <a:ext uri="{FF2B5EF4-FFF2-40B4-BE49-F238E27FC236}">
                <a16:creationId xmlns:a16="http://schemas.microsoft.com/office/drawing/2014/main" id="{AB2E1746-7AB9-4030-9908-3CB3D9894222}"/>
              </a:ext>
              <a:ext uri="{C183D7F6-B498-43B3-948B-1728B52AA6E4}">
                <adec:decorative xmlns:adec="http://schemas.microsoft.com/office/drawing/2017/decorative" val="0"/>
              </a:ext>
            </a:extLst>
          </p:cNvPr>
          <p:cNvSpPr txBox="1"/>
          <p:nvPr/>
        </p:nvSpPr>
        <p:spPr>
          <a:xfrm>
            <a:off x="6560438" y="4212361"/>
            <a:ext cx="2087370"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200" dirty="0">
                <a:solidFill>
                  <a:srgbClr val="D5D5D5">
                    <a:lumMod val="10000"/>
                  </a:srgbClr>
                </a:solidFill>
                <a:latin typeface="Helvetica Neue"/>
                <a:sym typeface="Helvetica Neue"/>
              </a:rPr>
              <a:t>[V2]</a:t>
            </a:r>
          </a:p>
        </p:txBody>
      </p:sp>
      <p:sp>
        <p:nvSpPr>
          <p:cNvPr id="10" name="Rectángulo: esquinas redondeadas 9">
            <a:extLst>
              <a:ext uri="{FF2B5EF4-FFF2-40B4-BE49-F238E27FC236}">
                <a16:creationId xmlns:a16="http://schemas.microsoft.com/office/drawing/2014/main" id="{A867825B-864F-4860-8146-FF4726E50C0C}"/>
              </a:ext>
              <a:ext uri="{C183D7F6-B498-43B3-948B-1728B52AA6E4}">
                <adec:decorative xmlns:adec="http://schemas.microsoft.com/office/drawing/2017/decorative" val="0"/>
              </a:ext>
            </a:extLst>
          </p:cNvPr>
          <p:cNvSpPr/>
          <p:nvPr/>
        </p:nvSpPr>
        <p:spPr>
          <a:xfrm>
            <a:off x="375030" y="3981262"/>
            <a:ext cx="1746956" cy="431324"/>
          </a:xfrm>
          <a:prstGeom prst="roundRect">
            <a:avLst/>
          </a:prstGeom>
          <a:noFill/>
          <a:ln w="19050" cap="flat">
            <a:solidFill>
              <a:srgbClr val="00206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050" b="1" kern="0" dirty="0">
                <a:solidFill>
                  <a:srgbClr val="FF0000"/>
                </a:solidFill>
                <a:latin typeface="Helvetica Neue"/>
                <a:sym typeface="Helvetica Neue"/>
              </a:rPr>
              <a:t>CJNG</a:t>
            </a:r>
          </a:p>
          <a:p>
            <a:pPr algn="ctr" defTabSz="1219169" hangingPunct="0"/>
            <a:r>
              <a:rPr lang="es-MX" sz="1050" b="1" kern="0" dirty="0">
                <a:solidFill>
                  <a:srgbClr val="D5D5D5">
                    <a:lumMod val="10000"/>
                  </a:srgbClr>
                </a:solidFill>
                <a:latin typeface="Helvetica Neue"/>
                <a:sym typeface="Helvetica Neue"/>
              </a:rPr>
              <a:t>Función: EJECUTOR </a:t>
            </a:r>
          </a:p>
        </p:txBody>
      </p:sp>
    </p:spTree>
    <p:extLst>
      <p:ext uri="{BB962C8B-B14F-4D97-AF65-F5344CB8AC3E}">
        <p14:creationId xmlns:p14="http://schemas.microsoft.com/office/powerpoint/2010/main" val="2376095208"/>
      </p:ext>
    </p:extLst>
  </p:cSld>
  <p:clrMapOvr>
    <a:masterClrMapping/>
  </p:clrMapOvr>
</p:sld>
</file>

<file path=ppt/slides/slide4.xml><?xml version="1.0" encoding="utf-8"?>
<p:sld xmlns:a16="http://schemas.microsoft.com/office/drawing/2014/main" xmlns:adec="http://schemas.microsoft.com/office/drawing/2017/decorative" xmlns:a14="http://schemas.microsoft.com/office/drawing/2010/main" xmlns:ma14="http://schemas.microsoft.com/office/mac/drawingml/2011/main" xmlns:m="http://schemas.openxmlformats.org/officeDocument/2006/math"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FONDO]" descr="[FONDO]">
            <a:extLst>
              <a:ext uri="{FF2B5EF4-FFF2-40B4-BE49-F238E27FC236}">
                <a16:creationId xmlns:a16="http://schemas.microsoft.com/office/drawing/2014/main" id="{550B94DC-8083-409B-A0AE-8E5F92888076}"/>
              </a:ext>
            </a:extLst>
          </p:cNvPr>
          <p:cNvPicPr>
            <a:picLocks noChangeAspect="1"/>
          </p:cNvPicPr>
          <p:nvPr/>
        </p:nvPicPr>
        <p:blipFill>
          <a:blip r:embed="R2c92afead4cd4be2"/>
          <a:stretch>
            <a:fillRect/>
          </a:stretch>
        </p:blipFill>
        <p:spPr>
          <a:xfrm>
            <a:off x="0" y="9634"/>
            <a:ext cx="12192000" cy="6838731"/>
          </a:xfrm>
          <a:prstGeom prst="rect">
            <a:avLst/>
          </a:prstGeom>
        </p:spPr>
      </p:pic>
      <p:pic>
        <p:nvPicPr>
          <p:cNvPr id="6" name="[FP]" descr="[FP]">
            <a:extLst>
              <a:ext uri="{FF2B5EF4-FFF2-40B4-BE49-F238E27FC236}">
                <a16:creationId xmlns:a16="http://schemas.microsoft.com/office/drawing/2014/main" id="{96BB27C3-171F-415B-955E-00B05E76B932}"/>
              </a:ext>
              <a:ext uri="{C183D7F6-B498-43B3-948B-1728B52AA6E4}">
                <adec:decorative xmlns:adec="http://schemas.microsoft.com/office/drawing/2017/decorative" val="0"/>
              </a:ext>
            </a:extLst>
          </p:cNvPr>
          <p:cNvPicPr>
            <a:picLocks noChangeAspect="1"/>
          </p:cNvPicPr>
          <p:nvPr/>
        </p:nvPicPr>
        <p:blipFill rotWithShape="1">
          <a:blip r:embed="R0e3716e59e25440e">
            <a:extLst>
              <a:ext uri="{28A0092B-C50C-407E-A947-70E740481C1C}">
                <a14:useLocalDpi xmlns:a14="http://schemas.microsoft.com/office/drawing/2010/main" val="0"/>
              </a:ext>
            </a:extLst>
          </a:blip>
          <a:srcRect l="13321" r="5707" b="43686"/>
          <a:stretch/>
        </p:blipFill>
        <p:spPr>
          <a:xfrm>
            <a:off x="375030" y="872451"/>
            <a:ext cx="1746956" cy="1783408"/>
          </a:xfrm>
          <a:prstGeom prst="rect">
            <a:avLst/>
          </a:prstGeom>
          <a:ln w="1905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val="1"/>
            </a:ext>
          </a:extLst>
        </p:spPr>
      </p:pic>
      <p:sp>
        <p:nvSpPr>
          <p:cNvPr id="7" name="CuadroTexto 6">
            <a:extLst>
              <a:ext uri="{FF2B5EF4-FFF2-40B4-BE49-F238E27FC236}">
                <a16:creationId xmlns:a16="http://schemas.microsoft.com/office/drawing/2014/main" id="{3D74CD59-3E7C-4914-8600-4A1E85442772}"/>
              </a:ext>
              <a:ext uri="{C183D7F6-B498-43B3-948B-1728B52AA6E4}">
                <adec:decorative xmlns:adec="http://schemas.microsoft.com/office/drawing/2017/decorative" val="0"/>
              </a:ext>
            </a:extLst>
          </p:cNvPr>
          <p:cNvSpPr txBox="1"/>
          <p:nvPr/>
        </p:nvSpPr>
        <p:spPr>
          <a:xfrm>
            <a:off x="375030" y="2676896"/>
            <a:ext cx="1746956" cy="400110"/>
          </a:xfrm>
          <a:prstGeom prst="rect">
            <a:avLst/>
          </a:prstGeom>
          <a:noFill/>
          <a:ln w="19050">
            <a:solidFill>
              <a:srgbClr val="002060"/>
            </a:solidFill>
          </a:ln>
        </p:spPr>
        <p:txBody>
          <a:bodyPr wrap="square" rtlCol="0">
            <a:spAutoFit/>
          </a:bodyPr>
          <a:lstStyle/>
          <a:p>
            <a:pPr algn="ctr" defTabSz="1219169" hangingPunct="0"/>
            <a:r>
              <a:rPr lang="es-MX" sz="1000" b="1" kern="0" dirty="0">
                <a:solidFill>
                  <a:srgbClr val="D5D5D5">
                    <a:lumMod val="10000"/>
                  </a:srgbClr>
                </a:solidFill>
                <a:latin typeface="Helvetica Neue"/>
                <a:sym typeface="Helvetica Neue"/>
              </a:rPr>
              <a:t>JAVIER ESQUIVEL PADILLA</a:t>
            </a:r>
          </a:p>
          <a:p>
            <a:pPr algn="ctr" defTabSz="1219169" hangingPunct="0"/>
            <a:r>
              <a:rPr lang="es-MX" sz="1000" b="1" kern="0" dirty="0">
                <a:solidFill>
                  <a:srgbClr val="D5D5D5">
                    <a:lumMod val="10000"/>
                  </a:srgbClr>
                </a:solidFill>
                <a:latin typeface="Helvetica Neue"/>
                <a:sym typeface="Helvetica Neue"/>
              </a:rPr>
              <a:t>(a) 'QUETA '</a:t>
            </a:r>
          </a:p>
        </p:txBody>
      </p:sp>
      <p:sp>
        <p:nvSpPr>
          <p:cNvPr id="9" name="CuadroTexto 8">
            <a:extLst>
              <a:ext uri="{FF2B5EF4-FFF2-40B4-BE49-F238E27FC236}">
                <a16:creationId xmlns:a16="http://schemas.microsoft.com/office/drawing/2014/main" id="{30351AD1-E07B-4A71-9B0F-C13A755BC74E}"/>
              </a:ext>
              <a:ext uri="{C183D7F6-B498-43B3-948B-1728B52AA6E4}">
                <adec:decorative xmlns:adec="http://schemas.microsoft.com/office/drawing/2017/decorative" val="0"/>
              </a:ext>
            </a:extLst>
          </p:cNvPr>
          <p:cNvSpPr txBox="1"/>
          <p:nvPr/>
        </p:nvSpPr>
        <p:spPr>
          <a:xfrm>
            <a:off x="535322" y="4736644"/>
            <a:ext cx="1426372"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200" b="1" kern="0" dirty="0">
                <a:solidFill>
                  <a:srgbClr val="D5D5D5">
                    <a:lumMod val="10000"/>
                  </a:srgbClr>
                </a:solidFill>
                <a:latin typeface="Helvetica Neue"/>
                <a:sym typeface="Helvetica Neue"/>
              </a:rPr>
              <a:t>Objetivo detenido</a:t>
            </a:r>
          </a:p>
        </p:txBody>
      </p:sp>
      <p:sp>
        <p:nvSpPr>
          <p:cNvPr id="11" name="Rectángulo: esquinas redondeadas 10">
            <a:extLst>
              <a:ext uri="{FF2B5EF4-FFF2-40B4-BE49-F238E27FC236}">
                <a16:creationId xmlns:a16="http://schemas.microsoft.com/office/drawing/2014/main" id="{DCBA5AE1-928F-4078-8BDA-87D77C1A9140}"/>
              </a:ext>
              <a:ext uri="{C183D7F6-B498-43B3-948B-1728B52AA6E4}">
                <adec:decorative xmlns:adec="http://schemas.microsoft.com/office/drawing/2017/decorative" val="0"/>
              </a:ext>
            </a:extLst>
          </p:cNvPr>
          <p:cNvSpPr/>
          <p:nvPr/>
        </p:nvSpPr>
        <p:spPr>
          <a:xfrm>
            <a:off x="375030" y="4690041"/>
            <a:ext cx="1746956" cy="329168"/>
          </a:xfrm>
          <a:prstGeom prst="roundRect">
            <a:avLst/>
          </a:prstGeom>
          <a:noFill/>
          <a:ln w="19050" cap="flat">
            <a:solidFill>
              <a:srgbClr val="00206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412750" hangingPunct="0"/>
            <a:endParaRPr lang="es-MX" sz="1600" kern="0">
              <a:solidFill>
                <a:srgbClr val="FFFFFF"/>
              </a:solidFill>
              <a:latin typeface="Helvetica Neue Medium"/>
              <a:ea typeface="Helvetica Neue Medium"/>
              <a:cs typeface="Helvetica Neue Medium"/>
              <a:sym typeface="Helvetica Neue Medium"/>
            </a:endParaRPr>
          </a:p>
        </p:txBody>
      </p:sp>
      <p:graphicFrame>
        <p:nvGraphicFramePr>
          <p:cNvPr id="12" name="Tabla 11">
            <a:extLst>
              <a:ext uri="{FF2B5EF4-FFF2-40B4-BE49-F238E27FC236}">
                <a16:creationId xmlns:a16="http://schemas.microsoft.com/office/drawing/2014/main" id="{7D086326-9674-4613-A1F6-30D70D726251}"/>
              </a:ext>
              <a:ext uri="{C183D7F6-B498-43B3-948B-1728B52AA6E4}">
                <adec:decorative xmlns:adec="http://schemas.microsoft.com/office/drawing/2017/decorative" val="0"/>
              </a:ext>
            </a:extLst>
          </p:cNvPr>
          <p:cNvGraphicFramePr>
            <a:graphicFrameLocks noGrp="1"/>
          </p:cNvGraphicFramePr>
          <p:nvPr>
            <p:extLst>
              <p:ext uri="{D42A27DB-BD31-4B8C-83A1-F6EECF244321}">
                <p14:modId xmlns:p14="http://schemas.microsoft.com/office/powerpoint/2010/main" val="3363756650"/>
              </p:ext>
            </p:extLst>
          </p:nvPr>
        </p:nvGraphicFramePr>
        <p:xfrm>
          <a:off x="2342571" y="872451"/>
          <a:ext cx="9255737" cy="5158857"/>
        </p:xfrm>
        <a:graphic>
          <a:graphicData uri="http://schemas.openxmlformats.org/drawingml/2006/table">
            <a:tbl>
              <a:tblPr firstRow="1" bandRow="1">
                <a:tableStyleId>{5940675A-B579-460E-94D1-54222C63F5DA}</a:tableStyleId>
              </a:tblPr>
              <a:tblGrid>
                <a:gridCol w="1821946">
                  <a:extLst>
                    <a:ext uri="{9D8B030D-6E8A-4147-A177-3AD203B41FA5}">
                      <a16:colId xmlns:a16="http://schemas.microsoft.com/office/drawing/2014/main" val="84531247"/>
                    </a:ext>
                  </a:extLst>
                </a:gridCol>
                <a:gridCol w="4416776">
                  <a:extLst>
                    <a:ext uri="{9D8B030D-6E8A-4147-A177-3AD203B41FA5}">
                      <a16:colId xmlns:a16="http://schemas.microsoft.com/office/drawing/2014/main" val="2002464751"/>
                    </a:ext>
                  </a:extLst>
                </a:gridCol>
                <a:gridCol w="3017015">
                  <a:extLst>
                    <a:ext uri="{9D8B030D-6E8A-4147-A177-3AD203B41FA5}">
                      <a16:colId xmlns:a16="http://schemas.microsoft.com/office/drawing/2014/main" val="3567498210"/>
                    </a:ext>
                  </a:extLst>
                </a:gridCol>
              </a:tblGrid>
              <a:tr h="77724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Antecedentes </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indent="0" algn="l">
                        <a:buFont typeface="Arial" panose="020B0604020202020204" pitchFamily="34" charset="0"/>
                        <a:buNone/>
                      </a:pPr>
                      <a:r>
                        <a:rPr kumimoji="0" lang="es-419" sz="1200" b="0" i="0" u="none" strike="noStrike" cap="none" spc="0" normalizeH="0" dirty="0">
                          <a:ln>
                            <a:noFill/>
                          </a:ln>
                          <a:solidFill>
                            <a:schemeClr val="bg2">
                              <a:lumMod val="10000"/>
                            </a:schemeClr>
                          </a:solidFill>
                          <a:effectLst/>
                          <a:latin typeface="+mj-lt"/>
                          <a:ea typeface="+mn-ea"/>
                          <a:cs typeface="+mn-cs"/>
                          <a:sym typeface="Helvetica Neue"/>
                        </a:rPr>
                        <a:t>
• Lesiones Dolosas — 07/03/2008 21:12
• Lesiones Dolosas — 22/01/2007 13:00
• Mariposero — 13/05/2006 19:20
• Lesiones Dolosas — 03/04/2004 15:00
• Robo Simple — 28/06/1995 16:53</a:t>
                      </a:r>
                      <a:endParaRPr kumimoji="0" lang="es-MX" sz="1200" b="0" i="0" u="none" strike="noStrike"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4260607246"/>
                  </a:ext>
                </a:extLst>
              </a:tr>
              <a:tr h="41148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Órdenes de aprehensión</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l"/>
                      <a:r>
                        <a:rPr kumimoji="0" lang="es-419" sz="1200" b="0" i="0" u="none" strike="noStrike" cap="none" spc="0" normalizeH="0" dirty="0">
                          <a:ln>
                            <a:noFill/>
                          </a:ln>
                          <a:solidFill>
                            <a:schemeClr val="bg2">
                              <a:lumMod val="10000"/>
                            </a:schemeClr>
                          </a:solidFill>
                          <a:effectLst/>
                          <a:latin typeface="+mj-lt"/>
                          <a:ea typeface="+mn-ea"/>
                          <a:cs typeface="+mn-cs"/>
                          <a:sym typeface="Helvetica Neue"/>
                        </a:rPr>
                        <a:t>
• LESIONES DOLOSAS POR GOLPES — CUMPLIMENTADA
• ROBO CALIFICADO — CUMPLIMENTADA</a:t>
                      </a:r>
                      <a:endParaRPr kumimoji="0" lang="es-MX" sz="1200" b="0" i="0" u="none" strike="noStrike"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601757136"/>
                  </a:ext>
                </a:extLst>
              </a:tr>
              <a:tr h="1867017">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Asuntos relacionados </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just">
                        <a:buFont typeface="Arial" panose="020B0604020202020204" pitchFamily="34" charset="0"/>
                        <a:buNone/>
                      </a:pPr>
                      <a:r>
                        <a:rPr kumimoji="0" lang="es-MX" sz="1200" b="1" i="0" u="none" strike="noStrike" kern="1200" cap="none" spc="0" normalizeH="0" dirty="0">
                          <a:ln>
                            <a:noFill/>
                          </a:ln>
                          <a:solidFill>
                            <a:schemeClr val="bg2">
                              <a:lumMod val="10000"/>
                            </a:schemeClr>
                          </a:solidFill>
                          <a:effectLst/>
                          <a:latin typeface="+mj-lt"/>
                          <a:ea typeface="+mn-ea"/>
                          <a:cs typeface="+mn-cs"/>
                          <a:sym typeface="Helvetica Neue"/>
                        </a:rPr>
                        <a:t>Caso Jassiel Hechos en agravio de Jassiel Díaz Cardona, el pasado 30 de mayo de 2023, en el rancho conocido como  “la fogata” Potrero Salitrillo Monte, Rincón de Romos, Aguascalientes, cuando la victima viajaba a bordo de su automóvil Ford Focus sobre la carretera 22, fue perseguido por los responsables  Jonathan Josefath Castorena Rodríguez alias patroncito, Javier Esquivel Padilla alias “La Queta” y Ricardo Alberto Navarro Gonzales alias “El Ricas”, quienes lo alcanzaron para herirlo con disparos por arma de fuego, la victima falleció minutos mas tarde en el Hospital General de Rincón de Romos.</a:t>
                      </a: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just">
                        <a:buFont typeface="Arial" panose="020B0604020202020204" pitchFamily="34" charset="0"/>
                        <a:buNone/>
                      </a:pPr>
                      <a:r>
                        <a:rPr lang="es-MX" sz="1200" b="0" i="0" u="none" strike="noStrike" kern="1200" cap="none" spc="0" baseline="0">
                          <a:solidFill>
                            <a:schemeClr val="bg2">
                              <a:lumMod val="10000"/>
                            </a:schemeClr>
                          </a:solidFill>
                          <a:uFillTx/>
                          <a:latin typeface="+mj-lt"/>
                          <a:ea typeface="+mn-ea"/>
                          <a:cs typeface="+mn-cs"/>
                          <a:sym typeface="Helvetica Neue"/>
                        </a:rPr>
                        <a:t/>
                      </a:r>
                      <a:endParaRPr lang="es-MX" sz="1200" b="0" i="0" u="none" strike="noStrike" kern="1200" cap="none" spc="0" baseline="0" dirty="0">
                        <a:solidFill>
                          <a:schemeClr val="bg2">
                            <a:lumMod val="10000"/>
                          </a:schemeClr>
                        </a:solidFill>
                        <a:uFillTx/>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47750782"/>
                  </a:ext>
                </a:extLst>
              </a:tr>
              <a:tr h="96012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Sentencia</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just" defTabSz="584200" rtl="0" eaLnBrk="1" fontAlgn="auto" latinLnBrk="0" hangingPunct="1">
                        <a:lnSpc>
                          <a:spcPct val="100000"/>
                        </a:lnSpc>
                        <a:spcBef>
                          <a:spcPts val="0"/>
                        </a:spcBef>
                        <a:spcAft>
                          <a:spcPts val="0"/>
                        </a:spcAft>
                        <a:buClrTx/>
                        <a:buSzTx/>
                        <a:buFontTx/>
                        <a:buNone/>
                        <a:tabLst/>
                        <a:defRPr/>
                      </a:pPr>
                      <a:r>
                        <a:rPr lang="es-MX" sz="1200" kern="1200" dirty="0">
                          <a:solidFill>
                            <a:schemeClr val="bg2">
                              <a:lumMod val="10000"/>
                            </a:schemeClr>
                          </a:solidFill>
                          <a:latin typeface="+mj-lt"/>
                          <a:ea typeface="+mn-ea"/>
                          <a:cs typeface="+mn-cs"/>
                        </a:rPr>
                        <a:t>Sentenciado, se sentencio por violacion</a:t>
                      </a: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1778621528"/>
                  </a:ext>
                </a:extLst>
              </a:tr>
              <a:tr h="114300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Estatus jurídico</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just"/>
                      <a:r>
                        <a:rPr kumimoji="0" lang="es-MX" sz="1200" b="1" i="0" u="none" strike="noStrike" cap="none" spc="0" normalizeH="0" dirty="0">
                          <a:ln>
                            <a:noFill/>
                          </a:ln>
                          <a:solidFill>
                            <a:srgbClr val="002060"/>
                          </a:solidFill>
                          <a:effectLst/>
                          <a:latin typeface="+mj-lt"/>
                          <a:ea typeface="+mn-ea"/>
                          <a:cs typeface="+mn-cs"/>
                          <a:sym typeface="Helvetica Neue"/>
                        </a:rPr>
                        <a:t>
• A-08/02876 Violacion equiparada
• CI/PAB/00072/01-21 Amenazas
• CI/RIN/00542/09-22 Violencia familiar
• R-07/00017 Daño en las cosas doloso
• R-07/00019 Robo calificado
• R-07/00031 Daño en las cosas doloso
• R-07/00102 Robo calificado
• R-07/00147 Robo calificado
• R-07/00182 Daño en las cosas doloso
• R-07/00227 Lesiones dolosas calificadas por golpes</a:t>
                      </a:r>
                      <a:endParaRPr kumimoji="0" lang="es-MX" sz="1200" b="0" i="0" u="none" strike="noStrike"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554105151"/>
                  </a:ext>
                </a:extLst>
              </a:tr>
            </a:tbl>
          </a:graphicData>
        </a:graphic>
      </p:graphicFrame>
      <p:pic>
        <p:nvPicPr>
          <p:cNvPr id="13" name="Imagen 12">
            <a:extLst>
              <a:ext uri="{FF2B5EF4-FFF2-40B4-BE49-F238E27FC236}">
                <a16:creationId xmlns:a16="http://schemas.microsoft.com/office/drawing/2014/main" id="{F3E4DB8D-4053-4584-8E16-FD3B10A1C1B7}"/>
              </a:ext>
              <a:ext uri="{C183D7F6-B498-43B3-948B-1728B52AA6E4}">
                <adec:decorative xmlns:adec="http://schemas.microsoft.com/office/drawing/2017/decorative" val="0"/>
              </a:ext>
            </a:extLst>
          </p:cNvPr>
          <p:cNvPicPr>
            <a:picLocks noChangeAspect="1"/>
          </p:cNvPicPr>
          <p:nvPr/>
        </p:nvPicPr>
        <p:blipFill rotWithShape="1">
          <a:blip r:embed="rId4">
            <a:extLst>
              <a:ext uri="{28A0092B-C50C-407E-A947-70E740481C1C}">
                <a14:useLocalDpi xmlns:a14="http://schemas.microsoft.com/office/drawing/2010/main" val="0"/>
              </a:ext>
            </a:extLst>
          </a:blip>
          <a:srcRect l="453" t="15439" r="-453" b="20541"/>
          <a:stretch/>
        </p:blipFill>
        <p:spPr>
          <a:xfrm>
            <a:off x="4517254" y="2781648"/>
            <a:ext cx="1370384" cy="1091957"/>
          </a:xfrm>
          <a:prstGeom prst="rect">
            <a:avLst/>
          </a:prstGeom>
        </p:spPr>
      </p:pic>
      <p:pic>
        <p:nvPicPr>
          <p:cNvPr id="14" name="Imagen 13">
            <a:extLst>
              <a:ext uri="{FF2B5EF4-FFF2-40B4-BE49-F238E27FC236}">
                <a16:creationId xmlns:a16="http://schemas.microsoft.com/office/drawing/2014/main" id="{78AD0D50-CEAB-4875-8FC7-D883FA47718A}"/>
              </a:ext>
              <a:ext uri="{C183D7F6-B498-43B3-948B-1728B52AA6E4}">
                <adec:decorative xmlns:adec="http://schemas.microsoft.com/office/drawing/2017/decorative" val="0"/>
              </a:ext>
            </a:extLst>
          </p:cNvPr>
          <p:cNvPicPr>
            <a:picLocks noChangeAspect="1"/>
          </p:cNvPicPr>
          <p:nvPr/>
        </p:nvPicPr>
        <p:blipFill rotWithShape="1">
          <a:blip r:embed="rId5">
            <a:extLst>
              <a:ext uri="{28A0092B-C50C-407E-A947-70E740481C1C}">
                <a14:useLocalDpi xmlns:a14="http://schemas.microsoft.com/office/drawing/2010/main" val="0"/>
              </a:ext>
            </a:extLst>
          </a:blip>
          <a:srcRect l="14776" b="36330"/>
          <a:stretch/>
        </p:blipFill>
        <p:spPr>
          <a:xfrm>
            <a:off x="6687005" y="2799457"/>
            <a:ext cx="1145979" cy="1091957"/>
          </a:xfrm>
          <a:prstGeom prst="rect">
            <a:avLst/>
          </a:prstGeom>
        </p:spPr>
      </p:pic>
      <p:sp>
        <p:nvSpPr>
          <p:cNvPr id="15" name="CuadroTexto 14">
            <a:extLst>
              <a:ext uri="{FF2B5EF4-FFF2-40B4-BE49-F238E27FC236}">
                <a16:creationId xmlns:a16="http://schemas.microsoft.com/office/drawing/2014/main" id="{892DDAC4-4E3B-42FD-8F24-EB68A85E8C14}"/>
              </a:ext>
              <a:ext uri="{C183D7F6-B498-43B3-948B-1728B52AA6E4}">
                <adec:decorative xmlns:adec="http://schemas.microsoft.com/office/drawing/2017/decorative" val="0"/>
              </a:ext>
            </a:extLst>
          </p:cNvPr>
          <p:cNvSpPr txBox="1"/>
          <p:nvPr/>
        </p:nvSpPr>
        <p:spPr>
          <a:xfrm>
            <a:off x="380448" y="3259050"/>
            <a:ext cx="1746956" cy="577081"/>
          </a:xfrm>
          <a:prstGeom prst="rect">
            <a:avLst/>
          </a:prstGeom>
          <a:noFill/>
          <a:ln w="19050">
            <a:solidFill>
              <a:srgbClr val="002060"/>
            </a:solidFill>
          </a:ln>
        </p:spPr>
        <p:txBody>
          <a:bodyPr wrap="square" rtlCol="0">
            <a:spAutoFit/>
          </a:bodyPr>
          <a:lstStyle/>
          <a:p>
            <a:pPr algn="ctr" defTabSz="1219169" hangingPunct="0"/>
            <a:r>
              <a:rPr lang="es-MX" sz="1050" b="1" kern="0" dirty="0">
                <a:solidFill>
                  <a:srgbClr val="D5D5D5">
                    <a:lumMod val="10000"/>
                  </a:srgbClr>
                </a:solidFill>
                <a:latin typeface="Helvetica Neue"/>
                <a:sym typeface="Helvetica Neue"/>
              </a:rPr>
              <a:t>Fecha de nacimiento: 10/10/1990</a:t>
            </a:r>
          </a:p>
          <a:p>
            <a:pPr algn="ctr" defTabSz="1219169" hangingPunct="0"/>
            <a:r>
              <a:rPr lang="es-MX" sz="1050" b="1" kern="0" dirty="0">
                <a:solidFill>
                  <a:srgbClr val="D5D5D5">
                    <a:lumMod val="10000"/>
                  </a:srgbClr>
                </a:solidFill>
                <a:latin typeface="Helvetica Neue"/>
                <a:sym typeface="Helvetica Neue"/>
              </a:rPr>
              <a:t>35 años</a:t>
            </a:r>
          </a:p>
        </p:txBody>
      </p:sp>
      <p:sp>
        <p:nvSpPr>
          <p:cNvPr id="16" name="CuadroTexto 15">
            <a:extLst>
              <a:ext uri="{FF2B5EF4-FFF2-40B4-BE49-F238E27FC236}">
                <a16:creationId xmlns:a16="http://schemas.microsoft.com/office/drawing/2014/main" id="{36DEA57A-0F2B-4205-9AEA-CDB8A26DFE03}"/>
              </a:ext>
              <a:ext uri="{C183D7F6-B498-43B3-948B-1728B52AA6E4}">
                <adec:decorative xmlns:adec="http://schemas.microsoft.com/office/drawing/2017/decorative" val="0"/>
              </a:ext>
            </a:extLst>
          </p:cNvPr>
          <p:cNvSpPr txBox="1"/>
          <p:nvPr/>
        </p:nvSpPr>
        <p:spPr>
          <a:xfrm>
            <a:off x="4158761" y="4230518"/>
            <a:ext cx="2087370"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200" dirty="0">
                <a:solidFill>
                  <a:srgbClr val="D5D5D5">
                    <a:lumMod val="10000"/>
                  </a:srgbClr>
                </a:solidFill>
                <a:latin typeface="Helvetica Neue"/>
                <a:sym typeface="Helvetica Neue"/>
              </a:rPr>
              <a:t/>
            </a:r>
          </a:p>
        </p:txBody>
      </p:sp>
      <p:sp>
        <p:nvSpPr>
          <p:cNvPr id="17" name="CuadroTexto 16">
            <a:extLst>
              <a:ext uri="{FF2B5EF4-FFF2-40B4-BE49-F238E27FC236}">
                <a16:creationId xmlns:a16="http://schemas.microsoft.com/office/drawing/2014/main" id="{AB2E1746-7AB9-4030-9908-3CB3D9894222}"/>
              </a:ext>
              <a:ext uri="{C183D7F6-B498-43B3-948B-1728B52AA6E4}">
                <adec:decorative xmlns:adec="http://schemas.microsoft.com/office/drawing/2017/decorative" val="0"/>
              </a:ext>
            </a:extLst>
          </p:cNvPr>
          <p:cNvSpPr txBox="1"/>
          <p:nvPr/>
        </p:nvSpPr>
        <p:spPr>
          <a:xfrm>
            <a:off x="6560438" y="4212361"/>
            <a:ext cx="2087370"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200" dirty="0">
                <a:solidFill>
                  <a:srgbClr val="D5D5D5">
                    <a:lumMod val="10000"/>
                  </a:srgbClr>
                </a:solidFill>
                <a:latin typeface="Helvetica Neue"/>
                <a:sym typeface="Helvetica Neue"/>
              </a:rPr>
              <a:t>[V2]</a:t>
            </a:r>
          </a:p>
        </p:txBody>
      </p:sp>
      <p:sp>
        <p:nvSpPr>
          <p:cNvPr id="10" name="Rectángulo: esquinas redondeadas 9">
            <a:extLst>
              <a:ext uri="{FF2B5EF4-FFF2-40B4-BE49-F238E27FC236}">
                <a16:creationId xmlns:a16="http://schemas.microsoft.com/office/drawing/2014/main" id="{A867825B-864F-4860-8146-FF4726E50C0C}"/>
              </a:ext>
              <a:ext uri="{C183D7F6-B498-43B3-948B-1728B52AA6E4}">
                <adec:decorative xmlns:adec="http://schemas.microsoft.com/office/drawing/2017/decorative" val="0"/>
              </a:ext>
            </a:extLst>
          </p:cNvPr>
          <p:cNvSpPr/>
          <p:nvPr/>
        </p:nvSpPr>
        <p:spPr>
          <a:xfrm>
            <a:off x="375030" y="3981262"/>
            <a:ext cx="1746956" cy="431324"/>
          </a:xfrm>
          <a:prstGeom prst="roundRect">
            <a:avLst/>
          </a:prstGeom>
          <a:noFill/>
          <a:ln w="19050" cap="flat">
            <a:solidFill>
              <a:srgbClr val="00206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050" b="1" kern="0" dirty="0">
                <a:solidFill>
                  <a:srgbClr val="FF0000"/>
                </a:solidFill>
                <a:latin typeface="Helvetica Neue"/>
                <a:sym typeface="Helvetica Neue"/>
              </a:rPr>
              <a:t>CJNG</a:t>
            </a:r>
          </a:p>
          <a:p>
            <a:pPr algn="ctr" defTabSz="1219169" hangingPunct="0"/>
            <a:r>
              <a:rPr lang="es-MX" sz="1050" b="1" kern="0" dirty="0">
                <a:solidFill>
                  <a:srgbClr val="D5D5D5">
                    <a:lumMod val="10000"/>
                  </a:srgbClr>
                </a:solidFill>
                <a:latin typeface="Helvetica Neue"/>
                <a:sym typeface="Helvetica Neue"/>
              </a:rPr>
              <a:t>Función: EJECUTOR </a:t>
            </a:r>
          </a:p>
        </p:txBody>
      </p:sp>
    </p:spTree>
    <p:extLst>
      <p:ext uri="{BB962C8B-B14F-4D97-AF65-F5344CB8AC3E}">
        <p14:creationId xmlns:p14="http://schemas.microsoft.com/office/powerpoint/2010/main" val="2376095208"/>
      </p:ext>
    </p:extLst>
  </p:cSld>
  <p:clrMapOvr>
    <a:masterClrMapping/>
  </p:clrMapOvr>
</p:sld>
</file>

<file path=ppt/slides/slide5.xml><?xml version="1.0" encoding="utf-8"?>
<p:sld xmlns:a16="http://schemas.microsoft.com/office/drawing/2014/main" xmlns:adec="http://schemas.microsoft.com/office/drawing/2017/decorative" xmlns:a14="http://schemas.microsoft.com/office/drawing/2010/main" xmlns:ma14="http://schemas.microsoft.com/office/mac/drawingml/2011/main" xmlns:m="http://schemas.openxmlformats.org/officeDocument/2006/math"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FONDO]" descr="[FONDO]">
            <a:extLst>
              <a:ext uri="{FF2B5EF4-FFF2-40B4-BE49-F238E27FC236}">
                <a16:creationId xmlns:a16="http://schemas.microsoft.com/office/drawing/2014/main" id="{550B94DC-8083-409B-A0AE-8E5F92888076}"/>
              </a:ext>
            </a:extLst>
          </p:cNvPr>
          <p:cNvPicPr>
            <a:picLocks noChangeAspect="1"/>
          </p:cNvPicPr>
          <p:nvPr/>
        </p:nvPicPr>
        <p:blipFill>
          <a:blip r:embed="R0a600ddb8e4648fa"/>
          <a:stretch>
            <a:fillRect/>
          </a:stretch>
        </p:blipFill>
        <p:spPr>
          <a:xfrm>
            <a:off x="0" y="9634"/>
            <a:ext cx="12192000" cy="6838731"/>
          </a:xfrm>
          <a:prstGeom prst="rect">
            <a:avLst/>
          </a:prstGeom>
        </p:spPr>
      </p:pic>
      <p:pic>
        <p:nvPicPr>
          <p:cNvPr id="6" name="[FP]" descr="[FP]">
            <a:extLst>
              <a:ext uri="{FF2B5EF4-FFF2-40B4-BE49-F238E27FC236}">
                <a16:creationId xmlns:a16="http://schemas.microsoft.com/office/drawing/2014/main" id="{96BB27C3-171F-415B-955E-00B05E76B932}"/>
              </a:ext>
              <a:ext uri="{C183D7F6-B498-43B3-948B-1728B52AA6E4}">
                <adec:decorative xmlns:adec="http://schemas.microsoft.com/office/drawing/2017/decorative" val="0"/>
              </a:ext>
            </a:extLst>
          </p:cNvPr>
          <p:cNvPicPr>
            <a:picLocks noChangeAspect="1"/>
          </p:cNvPicPr>
          <p:nvPr/>
        </p:nvPicPr>
        <p:blipFill rotWithShape="1">
          <a:blip r:embed="R2429dcecb3c446aa">
            <a:extLst>
              <a:ext uri="{28A0092B-C50C-407E-A947-70E740481C1C}">
                <a14:useLocalDpi xmlns:a14="http://schemas.microsoft.com/office/drawing/2010/main" val="0"/>
              </a:ext>
            </a:extLst>
          </a:blip>
          <a:srcRect l="13321" r="5707" b="43686"/>
          <a:stretch/>
        </p:blipFill>
        <p:spPr>
          <a:xfrm>
            <a:off x="375030" y="872451"/>
            <a:ext cx="1746956" cy="1783408"/>
          </a:xfrm>
          <a:prstGeom prst="rect">
            <a:avLst/>
          </a:prstGeom>
          <a:ln w="1905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val="1"/>
            </a:ext>
          </a:extLst>
        </p:spPr>
      </p:pic>
      <p:sp>
        <p:nvSpPr>
          <p:cNvPr id="7" name="CuadroTexto 6">
            <a:extLst>
              <a:ext uri="{FF2B5EF4-FFF2-40B4-BE49-F238E27FC236}">
                <a16:creationId xmlns:a16="http://schemas.microsoft.com/office/drawing/2014/main" id="{3D74CD59-3E7C-4914-8600-4A1E85442772}"/>
              </a:ext>
              <a:ext uri="{C183D7F6-B498-43B3-948B-1728B52AA6E4}">
                <adec:decorative xmlns:adec="http://schemas.microsoft.com/office/drawing/2017/decorative" val="0"/>
              </a:ext>
            </a:extLst>
          </p:cNvPr>
          <p:cNvSpPr txBox="1"/>
          <p:nvPr/>
        </p:nvSpPr>
        <p:spPr>
          <a:xfrm>
            <a:off x="375030" y="2676896"/>
            <a:ext cx="1746956" cy="400110"/>
          </a:xfrm>
          <a:prstGeom prst="rect">
            <a:avLst/>
          </a:prstGeom>
          <a:noFill/>
          <a:ln w="19050">
            <a:solidFill>
              <a:srgbClr val="002060"/>
            </a:solidFill>
          </a:ln>
        </p:spPr>
        <p:txBody>
          <a:bodyPr wrap="square" rtlCol="0">
            <a:spAutoFit/>
          </a:bodyPr>
          <a:lstStyle/>
          <a:p>
            <a:pPr algn="ctr" defTabSz="1219169" hangingPunct="0"/>
            <a:r>
              <a:rPr lang="es-MX" sz="1000" b="1" kern="0" dirty="0">
                <a:solidFill>
                  <a:srgbClr val="D5D5D5">
                    <a:lumMod val="10000"/>
                  </a:srgbClr>
                </a:solidFill>
                <a:latin typeface="Helvetica Neue"/>
                <a:sym typeface="Helvetica Neue"/>
              </a:rPr>
              <a:t>RICARDO ALBERTO NAVARRO GONZALEZ</a:t>
            </a:r>
          </a:p>
          <a:p>
            <a:pPr algn="ctr" defTabSz="1219169" hangingPunct="0"/>
            <a:r>
              <a:rPr lang="es-MX" sz="1000" b="1" kern="0" dirty="0">
                <a:solidFill>
                  <a:srgbClr val="D5D5D5">
                    <a:lumMod val="10000"/>
                  </a:srgbClr>
                </a:solidFill>
                <a:latin typeface="Helvetica Neue"/>
                <a:sym typeface="Helvetica Neue"/>
              </a:rPr>
              <a:t>(a) 'MIMI '</a:t>
            </a:r>
          </a:p>
        </p:txBody>
      </p:sp>
      <p:sp>
        <p:nvSpPr>
          <p:cNvPr id="9" name="CuadroTexto 8">
            <a:extLst>
              <a:ext uri="{FF2B5EF4-FFF2-40B4-BE49-F238E27FC236}">
                <a16:creationId xmlns:a16="http://schemas.microsoft.com/office/drawing/2014/main" id="{30351AD1-E07B-4A71-9B0F-C13A755BC74E}"/>
              </a:ext>
              <a:ext uri="{C183D7F6-B498-43B3-948B-1728B52AA6E4}">
                <adec:decorative xmlns:adec="http://schemas.microsoft.com/office/drawing/2017/decorative" val="0"/>
              </a:ext>
            </a:extLst>
          </p:cNvPr>
          <p:cNvSpPr txBox="1"/>
          <p:nvPr/>
        </p:nvSpPr>
        <p:spPr>
          <a:xfrm>
            <a:off x="535322" y="4736644"/>
            <a:ext cx="1426372"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200" b="1" kern="0" dirty="0">
                <a:solidFill>
                  <a:srgbClr val="D5D5D5">
                    <a:lumMod val="10000"/>
                  </a:srgbClr>
                </a:solidFill>
                <a:latin typeface="Helvetica Neue"/>
                <a:sym typeface="Helvetica Neue"/>
              </a:rPr>
              <a:t>Objetivo detenido</a:t>
            </a:r>
          </a:p>
        </p:txBody>
      </p:sp>
      <p:sp>
        <p:nvSpPr>
          <p:cNvPr id="11" name="Rectángulo: esquinas redondeadas 10">
            <a:extLst>
              <a:ext uri="{FF2B5EF4-FFF2-40B4-BE49-F238E27FC236}">
                <a16:creationId xmlns:a16="http://schemas.microsoft.com/office/drawing/2014/main" id="{DCBA5AE1-928F-4078-8BDA-87D77C1A9140}"/>
              </a:ext>
              <a:ext uri="{C183D7F6-B498-43B3-948B-1728B52AA6E4}">
                <adec:decorative xmlns:adec="http://schemas.microsoft.com/office/drawing/2017/decorative" val="0"/>
              </a:ext>
            </a:extLst>
          </p:cNvPr>
          <p:cNvSpPr/>
          <p:nvPr/>
        </p:nvSpPr>
        <p:spPr>
          <a:xfrm>
            <a:off x="375030" y="4690041"/>
            <a:ext cx="1746956" cy="329168"/>
          </a:xfrm>
          <a:prstGeom prst="roundRect">
            <a:avLst/>
          </a:prstGeom>
          <a:noFill/>
          <a:ln w="19050" cap="flat">
            <a:solidFill>
              <a:srgbClr val="00206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412750" hangingPunct="0"/>
            <a:endParaRPr lang="es-MX" sz="1600" kern="0">
              <a:solidFill>
                <a:srgbClr val="FFFFFF"/>
              </a:solidFill>
              <a:latin typeface="Helvetica Neue Medium"/>
              <a:ea typeface="Helvetica Neue Medium"/>
              <a:cs typeface="Helvetica Neue Medium"/>
              <a:sym typeface="Helvetica Neue Medium"/>
            </a:endParaRPr>
          </a:p>
        </p:txBody>
      </p:sp>
      <p:graphicFrame>
        <p:nvGraphicFramePr>
          <p:cNvPr id="12" name="Tabla 11">
            <a:extLst>
              <a:ext uri="{FF2B5EF4-FFF2-40B4-BE49-F238E27FC236}">
                <a16:creationId xmlns:a16="http://schemas.microsoft.com/office/drawing/2014/main" id="{7D086326-9674-4613-A1F6-30D70D726251}"/>
              </a:ext>
              <a:ext uri="{C183D7F6-B498-43B3-948B-1728B52AA6E4}">
                <adec:decorative xmlns:adec="http://schemas.microsoft.com/office/drawing/2017/decorative" val="0"/>
              </a:ext>
            </a:extLst>
          </p:cNvPr>
          <p:cNvGraphicFramePr>
            <a:graphicFrameLocks noGrp="1"/>
          </p:cNvGraphicFramePr>
          <p:nvPr>
            <p:extLst>
              <p:ext uri="{D42A27DB-BD31-4B8C-83A1-F6EECF244321}">
                <p14:modId xmlns:p14="http://schemas.microsoft.com/office/powerpoint/2010/main" val="3363756650"/>
              </p:ext>
            </p:extLst>
          </p:nvPr>
        </p:nvGraphicFramePr>
        <p:xfrm>
          <a:off x="2342571" y="872451"/>
          <a:ext cx="9255737" cy="5158857"/>
        </p:xfrm>
        <a:graphic>
          <a:graphicData uri="http://schemas.openxmlformats.org/drawingml/2006/table">
            <a:tbl>
              <a:tblPr firstRow="1" bandRow="1">
                <a:tableStyleId>{5940675A-B579-460E-94D1-54222C63F5DA}</a:tableStyleId>
              </a:tblPr>
              <a:tblGrid>
                <a:gridCol w="1821946">
                  <a:extLst>
                    <a:ext uri="{9D8B030D-6E8A-4147-A177-3AD203B41FA5}">
                      <a16:colId xmlns:a16="http://schemas.microsoft.com/office/drawing/2014/main" val="84531247"/>
                    </a:ext>
                  </a:extLst>
                </a:gridCol>
                <a:gridCol w="4416776">
                  <a:extLst>
                    <a:ext uri="{9D8B030D-6E8A-4147-A177-3AD203B41FA5}">
                      <a16:colId xmlns:a16="http://schemas.microsoft.com/office/drawing/2014/main" val="2002464751"/>
                    </a:ext>
                  </a:extLst>
                </a:gridCol>
                <a:gridCol w="3017015">
                  <a:extLst>
                    <a:ext uri="{9D8B030D-6E8A-4147-A177-3AD203B41FA5}">
                      <a16:colId xmlns:a16="http://schemas.microsoft.com/office/drawing/2014/main" val="3567498210"/>
                    </a:ext>
                  </a:extLst>
                </a:gridCol>
              </a:tblGrid>
              <a:tr h="77724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Antecedentes </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indent="0" algn="l">
                        <a:buFont typeface="Arial" panose="020B0604020202020204" pitchFamily="34" charset="0"/>
                        <a:buNone/>
                      </a:pPr>
                      <a:r>
                        <a:rPr kumimoji="0" lang="es-419" sz="1200" b="0" i="0" u="none" strike="noStrike" cap="none" spc="0" normalizeH="0" dirty="0">
                          <a:ln>
                            <a:noFill/>
                          </a:ln>
                          <a:solidFill>
                            <a:schemeClr val="bg2">
                              <a:lumMod val="10000"/>
                            </a:schemeClr>
                          </a:solidFill>
                          <a:effectLst/>
                          <a:latin typeface="+mj-lt"/>
                          <a:ea typeface="+mn-ea"/>
                          <a:cs typeface="+mn-cs"/>
                          <a:sym typeface="Helvetica Neue"/>
                        </a:rPr>
                        <a:t>
• Homicidio Doloso — 18/06/2020 19:10
• Lesiones Dolosas — 12/05/2019 21:20</a:t>
                      </a:r>
                      <a:endParaRPr kumimoji="0" lang="es-MX" sz="1200" b="0" i="0" u="none" strike="noStrike"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4260607246"/>
                  </a:ext>
                </a:extLst>
              </a:tr>
              <a:tr h="41148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Órdenes de aprehensión</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l"/>
                      <a:r>
                        <a:rPr kumimoji="0" lang="es-419" sz="1200" b="0" i="0" u="none" strike="noStrike" cap="none" spc="0" normalizeH="0" dirty="0">
                          <a:ln>
                            <a:noFill/>
                          </a:ln>
                          <a:solidFill>
                            <a:schemeClr val="bg2">
                              <a:lumMod val="10000"/>
                            </a:schemeClr>
                          </a:solidFill>
                          <a:effectLst/>
                          <a:latin typeface="+mj-lt"/>
                          <a:ea typeface="+mn-ea"/>
                          <a:cs typeface="+mn-cs"/>
                          <a:sym typeface="Helvetica Neue"/>
                        </a:rPr>
                        <a:t>
• HOMICIDIO DOLOSO CALIFICADO — CUMPLIMENTADA</a:t>
                      </a:r>
                      <a:endParaRPr kumimoji="0" lang="es-MX" sz="1200" b="0" i="0" u="none" strike="noStrike"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601757136"/>
                  </a:ext>
                </a:extLst>
              </a:tr>
              <a:tr h="1867017">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Asuntos relacionados </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just">
                        <a:buFont typeface="Arial" panose="020B0604020202020204" pitchFamily="34" charset="0"/>
                        <a:buNone/>
                      </a:pPr>
                      <a:r>
                        <a:rPr kumimoji="0" lang="es-MX" sz="1200" b="1" i="0" u="none" strike="noStrike" kern="1200" cap="none" spc="0" normalizeH="0" dirty="0">
                          <a:ln>
                            <a:noFill/>
                          </a:ln>
                          <a:solidFill>
                            <a:schemeClr val="bg2">
                              <a:lumMod val="10000"/>
                            </a:schemeClr>
                          </a:solidFill>
                          <a:effectLst/>
                          <a:latin typeface="+mj-lt"/>
                          <a:ea typeface="+mn-ea"/>
                          <a:cs typeface="+mn-cs"/>
                          <a:sym typeface="Helvetica Neue"/>
                        </a:rPr>
                        <a:t>Caso Jassiel Hechos en agravio de Jassiel Díaz Cardona, el pasado 30 de mayo de 2023, en el rancho conocido como  “la fogata” Potrero Salitrillo Monte, Rincón de Romos, Aguascalientes, cuando la victima viajaba a bordo de su automóvil Ford Focus sobre la carretera 22, fue perseguido por los responsables  Jonathan Josefath Castorena Rodríguez alias patroncito, Javier Esquivel Padilla alias “La Queta” y Ricardo Alberto Navarro Gonzales alias “El Ricas”, quienes lo alcanzaron para herirlo con disparos por arma de fuego, la victima falleció minutos mas tarde en el Hospital General de Rincón de Romos.</a:t>
                      </a: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just">
                        <a:buFont typeface="Arial" panose="020B0604020202020204" pitchFamily="34" charset="0"/>
                        <a:buNone/>
                      </a:pPr>
                      <a:r>
                        <a:rPr lang="es-MX" sz="1200" b="0" i="0" u="none" strike="noStrike" kern="1200" cap="none" spc="0" baseline="0">
                          <a:solidFill>
                            <a:schemeClr val="bg2">
                              <a:lumMod val="10000"/>
                            </a:schemeClr>
                          </a:solidFill>
                          <a:uFillTx/>
                          <a:latin typeface="+mj-lt"/>
                          <a:ea typeface="+mn-ea"/>
                          <a:cs typeface="+mn-cs"/>
                          <a:sym typeface="Helvetica Neue"/>
                        </a:rPr>
                        <a:t/>
                      </a:r>
                      <a:endParaRPr lang="es-MX" sz="1200" b="0" i="0" u="none" strike="noStrike" kern="1200" cap="none" spc="0" baseline="0" dirty="0">
                        <a:solidFill>
                          <a:schemeClr val="bg2">
                            <a:lumMod val="10000"/>
                          </a:schemeClr>
                        </a:solidFill>
                        <a:uFillTx/>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47750782"/>
                  </a:ext>
                </a:extLst>
              </a:tr>
              <a:tr h="96012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Sentencia</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just" defTabSz="584200" rtl="0" eaLnBrk="1" fontAlgn="auto" latinLnBrk="0" hangingPunct="1">
                        <a:lnSpc>
                          <a:spcPct val="100000"/>
                        </a:lnSpc>
                        <a:spcBef>
                          <a:spcPts val="0"/>
                        </a:spcBef>
                        <a:spcAft>
                          <a:spcPts val="0"/>
                        </a:spcAft>
                        <a:buClrTx/>
                        <a:buSzTx/>
                        <a:buFontTx/>
                        <a:buNone/>
                        <a:tabLst/>
                        <a:defRPr/>
                      </a:pPr>
                      <a:r>
                        <a:rPr lang="es-MX" sz="1200" kern="1200" dirty="0">
                          <a:solidFill>
                            <a:schemeClr val="bg2">
                              <a:lumMod val="10000"/>
                            </a:schemeClr>
                          </a:solidFill>
                          <a:latin typeface="+mj-lt"/>
                          <a:ea typeface="+mn-ea"/>
                          <a:cs typeface="+mn-cs"/>
                        </a:rPr>
                        <a:t>Sentenciado, se sentencio por violacion</a:t>
                      </a: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1778621528"/>
                  </a:ext>
                </a:extLst>
              </a:tr>
              <a:tr h="114300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Estatus jurídico</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just"/>
                      <a:r>
                        <a:rPr kumimoji="0" lang="es-MX" sz="1200" b="1" i="0" u="none" strike="noStrike" cap="none" spc="0" normalizeH="0" dirty="0">
                          <a:ln>
                            <a:noFill/>
                          </a:ln>
                          <a:solidFill>
                            <a:srgbClr val="002060"/>
                          </a:solidFill>
                          <a:effectLst/>
                          <a:latin typeface="+mj-lt"/>
                          <a:ea typeface="+mn-ea"/>
                          <a:cs typeface="+mn-cs"/>
                          <a:sym typeface="Helvetica Neue"/>
                        </a:rPr>
                        <a:t>
• CI/AGS/10918/05-19 Lesiones dolosas calificadas por golpes</a:t>
                      </a:r>
                      <a:endParaRPr kumimoji="0" lang="es-MX" sz="1200" b="0" i="0" u="none" strike="noStrike"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554105151"/>
                  </a:ext>
                </a:extLst>
              </a:tr>
            </a:tbl>
          </a:graphicData>
        </a:graphic>
      </p:graphicFrame>
      <p:pic>
        <p:nvPicPr>
          <p:cNvPr id="13" name="Imagen 12">
            <a:extLst>
              <a:ext uri="{FF2B5EF4-FFF2-40B4-BE49-F238E27FC236}">
                <a16:creationId xmlns:a16="http://schemas.microsoft.com/office/drawing/2014/main" id="{F3E4DB8D-4053-4584-8E16-FD3B10A1C1B7}"/>
              </a:ext>
              <a:ext uri="{C183D7F6-B498-43B3-948B-1728B52AA6E4}">
                <adec:decorative xmlns:adec="http://schemas.microsoft.com/office/drawing/2017/decorative" val="0"/>
              </a:ext>
            </a:extLst>
          </p:cNvPr>
          <p:cNvPicPr>
            <a:picLocks noChangeAspect="1"/>
          </p:cNvPicPr>
          <p:nvPr/>
        </p:nvPicPr>
        <p:blipFill rotWithShape="1">
          <a:blip r:embed="rId4">
            <a:extLst>
              <a:ext uri="{28A0092B-C50C-407E-A947-70E740481C1C}">
                <a14:useLocalDpi xmlns:a14="http://schemas.microsoft.com/office/drawing/2010/main" val="0"/>
              </a:ext>
            </a:extLst>
          </a:blip>
          <a:srcRect l="453" t="15439" r="-453" b="20541"/>
          <a:stretch/>
        </p:blipFill>
        <p:spPr>
          <a:xfrm>
            <a:off x="4517254" y="2781648"/>
            <a:ext cx="1370384" cy="1091957"/>
          </a:xfrm>
          <a:prstGeom prst="rect">
            <a:avLst/>
          </a:prstGeom>
        </p:spPr>
      </p:pic>
      <p:pic>
        <p:nvPicPr>
          <p:cNvPr id="14" name="Imagen 13">
            <a:extLst>
              <a:ext uri="{FF2B5EF4-FFF2-40B4-BE49-F238E27FC236}">
                <a16:creationId xmlns:a16="http://schemas.microsoft.com/office/drawing/2014/main" id="{78AD0D50-CEAB-4875-8FC7-D883FA47718A}"/>
              </a:ext>
              <a:ext uri="{C183D7F6-B498-43B3-948B-1728B52AA6E4}">
                <adec:decorative xmlns:adec="http://schemas.microsoft.com/office/drawing/2017/decorative" val="0"/>
              </a:ext>
            </a:extLst>
          </p:cNvPr>
          <p:cNvPicPr>
            <a:picLocks noChangeAspect="1"/>
          </p:cNvPicPr>
          <p:nvPr/>
        </p:nvPicPr>
        <p:blipFill rotWithShape="1">
          <a:blip r:embed="rId5">
            <a:extLst>
              <a:ext uri="{28A0092B-C50C-407E-A947-70E740481C1C}">
                <a14:useLocalDpi xmlns:a14="http://schemas.microsoft.com/office/drawing/2010/main" val="0"/>
              </a:ext>
            </a:extLst>
          </a:blip>
          <a:srcRect l="14776" b="36330"/>
          <a:stretch/>
        </p:blipFill>
        <p:spPr>
          <a:xfrm>
            <a:off x="6687005" y="2799457"/>
            <a:ext cx="1145979" cy="1091957"/>
          </a:xfrm>
          <a:prstGeom prst="rect">
            <a:avLst/>
          </a:prstGeom>
        </p:spPr>
      </p:pic>
      <p:sp>
        <p:nvSpPr>
          <p:cNvPr id="15" name="CuadroTexto 14">
            <a:extLst>
              <a:ext uri="{FF2B5EF4-FFF2-40B4-BE49-F238E27FC236}">
                <a16:creationId xmlns:a16="http://schemas.microsoft.com/office/drawing/2014/main" id="{892DDAC4-4E3B-42FD-8F24-EB68A85E8C14}"/>
              </a:ext>
              <a:ext uri="{C183D7F6-B498-43B3-948B-1728B52AA6E4}">
                <adec:decorative xmlns:adec="http://schemas.microsoft.com/office/drawing/2017/decorative" val="0"/>
              </a:ext>
            </a:extLst>
          </p:cNvPr>
          <p:cNvSpPr txBox="1"/>
          <p:nvPr/>
        </p:nvSpPr>
        <p:spPr>
          <a:xfrm>
            <a:off x="380448" y="3259050"/>
            <a:ext cx="1746956" cy="577081"/>
          </a:xfrm>
          <a:prstGeom prst="rect">
            <a:avLst/>
          </a:prstGeom>
          <a:noFill/>
          <a:ln w="19050">
            <a:solidFill>
              <a:srgbClr val="002060"/>
            </a:solidFill>
          </a:ln>
        </p:spPr>
        <p:txBody>
          <a:bodyPr wrap="square" rtlCol="0">
            <a:spAutoFit/>
          </a:bodyPr>
          <a:lstStyle/>
          <a:p>
            <a:pPr algn="ctr" defTabSz="1219169" hangingPunct="0"/>
            <a:r>
              <a:rPr lang="es-MX" sz="1050" b="1" kern="0" dirty="0">
                <a:solidFill>
                  <a:srgbClr val="D5D5D5">
                    <a:lumMod val="10000"/>
                  </a:srgbClr>
                </a:solidFill>
                <a:latin typeface="Helvetica Neue"/>
                <a:sym typeface="Helvetica Neue"/>
              </a:rPr>
              <a:t>Fecha de nacimiento: 10/10/1990</a:t>
            </a:r>
          </a:p>
          <a:p>
            <a:pPr algn="ctr" defTabSz="1219169" hangingPunct="0"/>
            <a:r>
              <a:rPr lang="es-MX" sz="1050" b="1" kern="0" dirty="0">
                <a:solidFill>
                  <a:srgbClr val="D5D5D5">
                    <a:lumMod val="10000"/>
                  </a:srgbClr>
                </a:solidFill>
                <a:latin typeface="Helvetica Neue"/>
                <a:sym typeface="Helvetica Neue"/>
              </a:rPr>
              <a:t>35 años</a:t>
            </a:r>
          </a:p>
        </p:txBody>
      </p:sp>
      <p:sp>
        <p:nvSpPr>
          <p:cNvPr id="16" name="CuadroTexto 15">
            <a:extLst>
              <a:ext uri="{FF2B5EF4-FFF2-40B4-BE49-F238E27FC236}">
                <a16:creationId xmlns:a16="http://schemas.microsoft.com/office/drawing/2014/main" id="{36DEA57A-0F2B-4205-9AEA-CDB8A26DFE03}"/>
              </a:ext>
              <a:ext uri="{C183D7F6-B498-43B3-948B-1728B52AA6E4}">
                <adec:decorative xmlns:adec="http://schemas.microsoft.com/office/drawing/2017/decorative" val="0"/>
              </a:ext>
            </a:extLst>
          </p:cNvPr>
          <p:cNvSpPr txBox="1"/>
          <p:nvPr/>
        </p:nvSpPr>
        <p:spPr>
          <a:xfrm>
            <a:off x="4158761" y="4230518"/>
            <a:ext cx="2087370"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200" dirty="0">
                <a:solidFill>
                  <a:srgbClr val="D5D5D5">
                    <a:lumMod val="10000"/>
                  </a:srgbClr>
                </a:solidFill>
                <a:latin typeface="Helvetica Neue"/>
                <a:sym typeface="Helvetica Neue"/>
              </a:rPr>
              <a:t/>
            </a:r>
          </a:p>
        </p:txBody>
      </p:sp>
      <p:sp>
        <p:nvSpPr>
          <p:cNvPr id="17" name="CuadroTexto 16">
            <a:extLst>
              <a:ext uri="{FF2B5EF4-FFF2-40B4-BE49-F238E27FC236}">
                <a16:creationId xmlns:a16="http://schemas.microsoft.com/office/drawing/2014/main" id="{AB2E1746-7AB9-4030-9908-3CB3D9894222}"/>
              </a:ext>
              <a:ext uri="{C183D7F6-B498-43B3-948B-1728B52AA6E4}">
                <adec:decorative xmlns:adec="http://schemas.microsoft.com/office/drawing/2017/decorative" val="0"/>
              </a:ext>
            </a:extLst>
          </p:cNvPr>
          <p:cNvSpPr txBox="1"/>
          <p:nvPr/>
        </p:nvSpPr>
        <p:spPr>
          <a:xfrm>
            <a:off x="6560438" y="4212361"/>
            <a:ext cx="2087370"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200" dirty="0">
                <a:solidFill>
                  <a:srgbClr val="D5D5D5">
                    <a:lumMod val="10000"/>
                  </a:srgbClr>
                </a:solidFill>
                <a:latin typeface="Helvetica Neue"/>
                <a:sym typeface="Helvetica Neue"/>
              </a:rPr>
              <a:t>[V2]</a:t>
            </a:r>
          </a:p>
        </p:txBody>
      </p:sp>
      <p:sp>
        <p:nvSpPr>
          <p:cNvPr id="10" name="Rectángulo: esquinas redondeadas 9">
            <a:extLst>
              <a:ext uri="{FF2B5EF4-FFF2-40B4-BE49-F238E27FC236}">
                <a16:creationId xmlns:a16="http://schemas.microsoft.com/office/drawing/2014/main" id="{A867825B-864F-4860-8146-FF4726E50C0C}"/>
              </a:ext>
              <a:ext uri="{C183D7F6-B498-43B3-948B-1728B52AA6E4}">
                <adec:decorative xmlns:adec="http://schemas.microsoft.com/office/drawing/2017/decorative" val="0"/>
              </a:ext>
            </a:extLst>
          </p:cNvPr>
          <p:cNvSpPr/>
          <p:nvPr/>
        </p:nvSpPr>
        <p:spPr>
          <a:xfrm>
            <a:off x="375030" y="3981262"/>
            <a:ext cx="1746956" cy="431324"/>
          </a:xfrm>
          <a:prstGeom prst="roundRect">
            <a:avLst/>
          </a:prstGeom>
          <a:noFill/>
          <a:ln w="19050" cap="flat">
            <a:solidFill>
              <a:srgbClr val="00206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050" b="1" kern="0" dirty="0">
                <a:solidFill>
                  <a:srgbClr val="FF0000"/>
                </a:solidFill>
                <a:latin typeface="Helvetica Neue"/>
                <a:sym typeface="Helvetica Neue"/>
              </a:rPr>
              <a:t>CJNG</a:t>
            </a:r>
          </a:p>
          <a:p>
            <a:pPr algn="ctr" defTabSz="1219169" hangingPunct="0"/>
            <a:r>
              <a:rPr lang="es-MX" sz="1050" b="1" kern="0" dirty="0">
                <a:solidFill>
                  <a:srgbClr val="D5D5D5">
                    <a:lumMod val="10000"/>
                  </a:srgbClr>
                </a:solidFill>
                <a:latin typeface="Helvetica Neue"/>
                <a:sym typeface="Helvetica Neue"/>
              </a:rPr>
              <a:t>Función: EJECUTOR </a:t>
            </a:r>
          </a:p>
        </p:txBody>
      </p:sp>
    </p:spTree>
    <p:extLst>
      <p:ext uri="{BB962C8B-B14F-4D97-AF65-F5344CB8AC3E}">
        <p14:creationId xmlns:p14="http://schemas.microsoft.com/office/powerpoint/2010/main" val="2376095208"/>
      </p:ext>
    </p:extLst>
  </p:cSld>
  <p:clrMapOvr>
    <a:masterClrMapping/>
  </p:clrMapOvr>
</p:sld>
</file>

<file path=ppt/slides/slide6.xml><?xml version="1.0" encoding="utf-8"?>
<p:sld xmlns:a16="http://schemas.microsoft.com/office/drawing/2014/main" xmlns:adec="http://schemas.microsoft.com/office/drawing/2017/decorative" xmlns:a14="http://schemas.microsoft.com/office/drawing/2010/main" xmlns:ma14="http://schemas.microsoft.com/office/mac/drawingml/2011/main" xmlns:m="http://schemas.openxmlformats.org/officeDocument/2006/math"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FONDO]" descr="[FONDO]">
            <a:extLst>
              <a:ext uri="{FF2B5EF4-FFF2-40B4-BE49-F238E27FC236}">
                <a16:creationId xmlns:a16="http://schemas.microsoft.com/office/drawing/2014/main" id="{550B94DC-8083-409B-A0AE-8E5F92888076}"/>
              </a:ext>
            </a:extLst>
          </p:cNvPr>
          <p:cNvPicPr>
            <a:picLocks noChangeAspect="1"/>
          </p:cNvPicPr>
          <p:nvPr/>
        </p:nvPicPr>
        <p:blipFill>
          <a:blip r:embed="R6b190e7c5c8047b7"/>
          <a:stretch>
            <a:fillRect/>
          </a:stretch>
        </p:blipFill>
        <p:spPr>
          <a:xfrm>
            <a:off x="0" y="9634"/>
            <a:ext cx="12192000" cy="6838731"/>
          </a:xfrm>
          <a:prstGeom prst="rect">
            <a:avLst/>
          </a:prstGeom>
        </p:spPr>
      </p:pic>
      <p:pic>
        <p:nvPicPr>
          <p:cNvPr id="6" name="[FP]" descr="[FP]">
            <a:extLst>
              <a:ext uri="{FF2B5EF4-FFF2-40B4-BE49-F238E27FC236}">
                <a16:creationId xmlns:a16="http://schemas.microsoft.com/office/drawing/2014/main" id="{96BB27C3-171F-415B-955E-00B05E76B932}"/>
              </a:ext>
              <a:ext uri="{C183D7F6-B498-43B3-948B-1728B52AA6E4}">
                <adec:decorative xmlns:adec="http://schemas.microsoft.com/office/drawing/2017/decorative" val="0"/>
              </a:ext>
            </a:extLst>
          </p:cNvPr>
          <p:cNvPicPr>
            <a:picLocks noChangeAspect="1"/>
          </p:cNvPicPr>
          <p:nvPr/>
        </p:nvPicPr>
        <p:blipFill rotWithShape="1">
          <a:blip r:embed="R3846afef12554268">
            <a:extLst>
              <a:ext uri="{28A0092B-C50C-407E-A947-70E740481C1C}">
                <a14:useLocalDpi xmlns:a14="http://schemas.microsoft.com/office/drawing/2010/main" val="0"/>
              </a:ext>
            </a:extLst>
          </a:blip>
          <a:srcRect l="13321" r="5707" b="43686"/>
          <a:stretch/>
        </p:blipFill>
        <p:spPr>
          <a:xfrm>
            <a:off x="375030" y="872451"/>
            <a:ext cx="1746956" cy="1783408"/>
          </a:xfrm>
          <a:prstGeom prst="rect">
            <a:avLst/>
          </a:prstGeom>
          <a:ln w="1905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val="1"/>
            </a:ext>
          </a:extLst>
        </p:spPr>
      </p:pic>
      <p:sp>
        <p:nvSpPr>
          <p:cNvPr id="7" name="CuadroTexto 6">
            <a:extLst>
              <a:ext uri="{FF2B5EF4-FFF2-40B4-BE49-F238E27FC236}">
                <a16:creationId xmlns:a16="http://schemas.microsoft.com/office/drawing/2014/main" id="{3D74CD59-3E7C-4914-8600-4A1E85442772}"/>
              </a:ext>
              <a:ext uri="{C183D7F6-B498-43B3-948B-1728B52AA6E4}">
                <adec:decorative xmlns:adec="http://schemas.microsoft.com/office/drawing/2017/decorative" val="0"/>
              </a:ext>
            </a:extLst>
          </p:cNvPr>
          <p:cNvSpPr txBox="1"/>
          <p:nvPr/>
        </p:nvSpPr>
        <p:spPr>
          <a:xfrm>
            <a:off x="375030" y="2676896"/>
            <a:ext cx="1746956" cy="400110"/>
          </a:xfrm>
          <a:prstGeom prst="rect">
            <a:avLst/>
          </a:prstGeom>
          <a:noFill/>
          <a:ln w="19050">
            <a:solidFill>
              <a:srgbClr val="002060"/>
            </a:solidFill>
          </a:ln>
        </p:spPr>
        <p:txBody>
          <a:bodyPr wrap="square" rtlCol="0">
            <a:spAutoFit/>
          </a:bodyPr>
          <a:lstStyle/>
          <a:p>
            <a:pPr algn="ctr" defTabSz="1219169" hangingPunct="0"/>
            <a:r>
              <a:rPr lang="es-MX" sz="1000" b="1" kern="0" dirty="0">
                <a:solidFill>
                  <a:srgbClr val="D5D5D5">
                    <a:lumMod val="10000"/>
                  </a:srgbClr>
                </a:solidFill>
                <a:latin typeface="Helvetica Neue"/>
                <a:sym typeface="Helvetica Neue"/>
              </a:rPr>
              <a:t>JOSUE CASTORENA ESPARZA</a:t>
            </a:r>
          </a:p>
          <a:p>
            <a:pPr algn="ctr" defTabSz="1219169" hangingPunct="0"/>
            <a:r>
              <a:rPr lang="es-MX" sz="1000" b="1" kern="0" dirty="0">
                <a:solidFill>
                  <a:srgbClr val="D5D5D5">
                    <a:lumMod val="10000"/>
                  </a:srgbClr>
                </a:solidFill>
                <a:latin typeface="Helvetica Neue"/>
                <a:sym typeface="Helvetica Neue"/>
              </a:rPr>
              <a:t>(a) 'PATRON '</a:t>
            </a:r>
          </a:p>
        </p:txBody>
      </p:sp>
      <p:sp>
        <p:nvSpPr>
          <p:cNvPr id="9" name="CuadroTexto 8">
            <a:extLst>
              <a:ext uri="{FF2B5EF4-FFF2-40B4-BE49-F238E27FC236}">
                <a16:creationId xmlns:a16="http://schemas.microsoft.com/office/drawing/2014/main" id="{30351AD1-E07B-4A71-9B0F-C13A755BC74E}"/>
              </a:ext>
              <a:ext uri="{C183D7F6-B498-43B3-948B-1728B52AA6E4}">
                <adec:decorative xmlns:adec="http://schemas.microsoft.com/office/drawing/2017/decorative" val="0"/>
              </a:ext>
            </a:extLst>
          </p:cNvPr>
          <p:cNvSpPr txBox="1"/>
          <p:nvPr/>
        </p:nvSpPr>
        <p:spPr>
          <a:xfrm>
            <a:off x="535322" y="4736644"/>
            <a:ext cx="1426372"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200" b="1" kern="0" dirty="0">
                <a:solidFill>
                  <a:srgbClr val="D5D5D5">
                    <a:lumMod val="10000"/>
                  </a:srgbClr>
                </a:solidFill>
                <a:latin typeface="Helvetica Neue"/>
                <a:sym typeface="Helvetica Neue"/>
              </a:rPr>
              <a:t>Objetivo detenido</a:t>
            </a:r>
          </a:p>
        </p:txBody>
      </p:sp>
      <p:sp>
        <p:nvSpPr>
          <p:cNvPr id="11" name="Rectángulo: esquinas redondeadas 10">
            <a:extLst>
              <a:ext uri="{FF2B5EF4-FFF2-40B4-BE49-F238E27FC236}">
                <a16:creationId xmlns:a16="http://schemas.microsoft.com/office/drawing/2014/main" id="{DCBA5AE1-928F-4078-8BDA-87D77C1A9140}"/>
              </a:ext>
              <a:ext uri="{C183D7F6-B498-43B3-948B-1728B52AA6E4}">
                <adec:decorative xmlns:adec="http://schemas.microsoft.com/office/drawing/2017/decorative" val="0"/>
              </a:ext>
            </a:extLst>
          </p:cNvPr>
          <p:cNvSpPr/>
          <p:nvPr/>
        </p:nvSpPr>
        <p:spPr>
          <a:xfrm>
            <a:off x="375030" y="4690041"/>
            <a:ext cx="1746956" cy="329168"/>
          </a:xfrm>
          <a:prstGeom prst="roundRect">
            <a:avLst/>
          </a:prstGeom>
          <a:noFill/>
          <a:ln w="19050" cap="flat">
            <a:solidFill>
              <a:srgbClr val="00206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412750" hangingPunct="0"/>
            <a:endParaRPr lang="es-MX" sz="1600" kern="0">
              <a:solidFill>
                <a:srgbClr val="FFFFFF"/>
              </a:solidFill>
              <a:latin typeface="Helvetica Neue Medium"/>
              <a:ea typeface="Helvetica Neue Medium"/>
              <a:cs typeface="Helvetica Neue Medium"/>
              <a:sym typeface="Helvetica Neue Medium"/>
            </a:endParaRPr>
          </a:p>
        </p:txBody>
      </p:sp>
      <p:graphicFrame>
        <p:nvGraphicFramePr>
          <p:cNvPr id="12" name="Tabla 11">
            <a:extLst>
              <a:ext uri="{FF2B5EF4-FFF2-40B4-BE49-F238E27FC236}">
                <a16:creationId xmlns:a16="http://schemas.microsoft.com/office/drawing/2014/main" id="{7D086326-9674-4613-A1F6-30D70D726251}"/>
              </a:ext>
              <a:ext uri="{C183D7F6-B498-43B3-948B-1728B52AA6E4}">
                <adec:decorative xmlns:adec="http://schemas.microsoft.com/office/drawing/2017/decorative" val="0"/>
              </a:ext>
            </a:extLst>
          </p:cNvPr>
          <p:cNvGraphicFramePr>
            <a:graphicFrameLocks noGrp="1"/>
          </p:cNvGraphicFramePr>
          <p:nvPr>
            <p:extLst>
              <p:ext uri="{D42A27DB-BD31-4B8C-83A1-F6EECF244321}">
                <p14:modId xmlns:p14="http://schemas.microsoft.com/office/powerpoint/2010/main" val="3363756650"/>
              </p:ext>
            </p:extLst>
          </p:nvPr>
        </p:nvGraphicFramePr>
        <p:xfrm>
          <a:off x="2342571" y="872451"/>
          <a:ext cx="9255737" cy="5158857"/>
        </p:xfrm>
        <a:graphic>
          <a:graphicData uri="http://schemas.openxmlformats.org/drawingml/2006/table">
            <a:tbl>
              <a:tblPr firstRow="1" bandRow="1">
                <a:tableStyleId>{5940675A-B579-460E-94D1-54222C63F5DA}</a:tableStyleId>
              </a:tblPr>
              <a:tblGrid>
                <a:gridCol w="1821946">
                  <a:extLst>
                    <a:ext uri="{9D8B030D-6E8A-4147-A177-3AD203B41FA5}">
                      <a16:colId xmlns:a16="http://schemas.microsoft.com/office/drawing/2014/main" val="84531247"/>
                    </a:ext>
                  </a:extLst>
                </a:gridCol>
                <a:gridCol w="4416776">
                  <a:extLst>
                    <a:ext uri="{9D8B030D-6E8A-4147-A177-3AD203B41FA5}">
                      <a16:colId xmlns:a16="http://schemas.microsoft.com/office/drawing/2014/main" val="2002464751"/>
                    </a:ext>
                  </a:extLst>
                </a:gridCol>
                <a:gridCol w="3017015">
                  <a:extLst>
                    <a:ext uri="{9D8B030D-6E8A-4147-A177-3AD203B41FA5}">
                      <a16:colId xmlns:a16="http://schemas.microsoft.com/office/drawing/2014/main" val="3567498210"/>
                    </a:ext>
                  </a:extLst>
                </a:gridCol>
              </a:tblGrid>
              <a:tr h="77724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Antecedentes </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indent="0" algn="l">
                        <a:buFont typeface="Arial" panose="020B0604020202020204" pitchFamily="34" charset="0"/>
                        <a:buNone/>
                      </a:pPr>
                      <a:r>
                        <a:rPr kumimoji="0" lang="es-419" sz="1200" b="0" i="0" u="none" strike="noStrike" cap="none" spc="0" normalizeH="0" dirty="0">
                          <a:ln>
                            <a:noFill/>
                          </a:ln>
                          <a:solidFill>
                            <a:schemeClr val="bg2">
                              <a:lumMod val="10000"/>
                            </a:schemeClr>
                          </a:solidFill>
                          <a:effectLst/>
                          <a:latin typeface="+mj-lt"/>
                          <a:ea typeface="+mn-ea"/>
                          <a:cs typeface="+mn-cs"/>
                          <a:sym typeface="Helvetica Neue"/>
                        </a:rPr>
                        <a:t>
• Contra la Salud — 31/07/2022 14:17
• Contra la Salud — 06/12/2019 21:20</a:t>
                      </a:r>
                      <a:endParaRPr kumimoji="0" lang="es-MX" sz="1200" b="0" i="0" u="none" strike="noStrike"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4260607246"/>
                  </a:ext>
                </a:extLst>
              </a:tr>
              <a:tr h="41148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Órdenes de aprehensión</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l"/>
                      <a:r>
                        <a:rPr kumimoji="0" lang="es-419" sz="1200" b="0" i="0" u="none" strike="noStrike" cap="none" spc="0" normalizeH="0" dirty="0">
                          <a:ln>
                            <a:noFill/>
                          </a:ln>
                          <a:solidFill>
                            <a:schemeClr val="bg2">
                              <a:lumMod val="10000"/>
                            </a:schemeClr>
                          </a:solidFill>
                          <a:effectLst/>
                          <a:latin typeface="+mj-lt"/>
                          <a:ea typeface="+mn-ea"/>
                          <a:cs typeface="+mn-cs"/>
                          <a:sym typeface="Helvetica Neue"/>
                        </a:rPr>
                        <a:t>
• HOMICIDIO DOLOSO CALIFICADO — CUMPLIMENTADA</a:t>
                      </a:r>
                      <a:endParaRPr kumimoji="0" lang="es-MX" sz="1200" b="0" i="0" u="none" strike="noStrike"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601757136"/>
                  </a:ext>
                </a:extLst>
              </a:tr>
              <a:tr h="1867017">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Asuntos relacionados </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just">
                        <a:buFont typeface="Arial" panose="020B0604020202020204" pitchFamily="34" charset="0"/>
                        <a:buNone/>
                      </a:pPr>
                      <a:r>
                        <a:rPr kumimoji="0" lang="es-MX" sz="1200" b="1" i="0" u="none" strike="noStrike" kern="1200" cap="none" spc="0" normalizeH="0" dirty="0">
                          <a:ln>
                            <a:noFill/>
                          </a:ln>
                          <a:solidFill>
                            <a:schemeClr val="bg2">
                              <a:lumMod val="10000"/>
                            </a:schemeClr>
                          </a:solidFill>
                          <a:effectLst/>
                          <a:latin typeface="+mj-lt"/>
                          <a:ea typeface="+mn-ea"/>
                          <a:cs typeface="+mn-cs"/>
                          <a:sym typeface="Helvetica Neue"/>
                        </a:rPr>
                        <a:t>Caso Jassiel Hechos en agravio de Jassiel Díaz Cardona, el pasado 30 de mayo de 2023, en el rancho conocido como  “la fogata” Potrero Salitrillo Monte, Rincón de Romos, Aguascalientes, cuando la victima viajaba a bordo de su automóvil Ford Focus sobre la carretera 22, fue perseguido por los responsables  Jonathan Josefath Castorena Rodríguez alias patroncito, Javier Esquivel Padilla alias “La Queta” y Ricardo Alberto Navarro Gonzales alias “El Ricas”, quienes lo alcanzaron para herirlo con disparos por arma de fuego, la victima falleció minutos mas tarde en el Hospital General de Rincón de Romos.</a:t>
                      </a: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p>
                      <a:pPr marL="342900" indent="-342900" algn="just">
                        <a:buFont typeface="Arial" panose="020B0604020202020204" pitchFamily="34" charset="0"/>
                        <a:buChar char="•"/>
                      </a:pPr>
                      <a:endParaRPr kumimoji="0" lang="es-MX" sz="1200" b="1" i="0" u="none" strike="noStrike" kern="1200"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just">
                        <a:buFont typeface="Arial" panose="020B0604020202020204" pitchFamily="34" charset="0"/>
                        <a:buNone/>
                      </a:pPr>
                      <a:r>
                        <a:rPr lang="es-MX" sz="1200" b="0" i="0" u="none" strike="noStrike" kern="1200" cap="none" spc="0" baseline="0">
                          <a:solidFill>
                            <a:schemeClr val="bg2">
                              <a:lumMod val="10000"/>
                            </a:schemeClr>
                          </a:solidFill>
                          <a:uFillTx/>
                          <a:latin typeface="+mj-lt"/>
                          <a:ea typeface="+mn-ea"/>
                          <a:cs typeface="+mn-cs"/>
                          <a:sym typeface="Helvetica Neue"/>
                        </a:rPr>
                        <a:t/>
                      </a:r>
                      <a:endParaRPr lang="es-MX" sz="1200" b="0" i="0" u="none" strike="noStrike" kern="1200" cap="none" spc="0" baseline="0" dirty="0">
                        <a:solidFill>
                          <a:schemeClr val="bg2">
                            <a:lumMod val="10000"/>
                          </a:schemeClr>
                        </a:solidFill>
                        <a:uFillTx/>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47750782"/>
                  </a:ext>
                </a:extLst>
              </a:tr>
              <a:tr h="96012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Sentencia</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just" defTabSz="584200" rtl="0" eaLnBrk="1" fontAlgn="auto" latinLnBrk="0" hangingPunct="1">
                        <a:lnSpc>
                          <a:spcPct val="100000"/>
                        </a:lnSpc>
                        <a:spcBef>
                          <a:spcPts val="0"/>
                        </a:spcBef>
                        <a:spcAft>
                          <a:spcPts val="0"/>
                        </a:spcAft>
                        <a:buClrTx/>
                        <a:buSzTx/>
                        <a:buFontTx/>
                        <a:buNone/>
                        <a:tabLst/>
                        <a:defRPr/>
                      </a:pPr>
                      <a:r>
                        <a:rPr lang="es-MX" sz="1200" kern="1200" dirty="0">
                          <a:solidFill>
                            <a:schemeClr val="bg2">
                              <a:lumMod val="10000"/>
                            </a:schemeClr>
                          </a:solidFill>
                          <a:latin typeface="+mj-lt"/>
                          <a:ea typeface="+mn-ea"/>
                          <a:cs typeface="+mn-cs"/>
                        </a:rPr>
                        <a:t>Sentenciado, se sentencio por violacion</a:t>
                      </a: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1778621528"/>
                  </a:ext>
                </a:extLst>
              </a:tr>
              <a:tr h="1143000">
                <a:tc>
                  <a:txBody>
                    <a:bodyPr/>
                    <a:lstStyle/>
                    <a:p>
                      <a:r>
                        <a:rPr kumimoji="0" lang="es-MX" sz="1200" b="1" i="0" u="none" strike="noStrike" cap="none" spc="0" normalizeH="0" dirty="0">
                          <a:ln>
                            <a:noFill/>
                          </a:ln>
                          <a:solidFill>
                            <a:schemeClr val="bg2">
                              <a:lumMod val="10000"/>
                            </a:schemeClr>
                          </a:solidFill>
                          <a:effectLst/>
                          <a:latin typeface="+mj-lt"/>
                          <a:ea typeface="+mn-ea"/>
                          <a:cs typeface="+mn-cs"/>
                          <a:sym typeface="Helvetica Neue"/>
                        </a:rPr>
                        <a:t>Estatus jurídico</a:t>
                      </a:r>
                    </a:p>
                  </a:txBody>
                  <a:tcPr marL="45720" marR="45720" marT="22860" marB="22860" anchor="ct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just"/>
                      <a:r>
                        <a:rPr kumimoji="0" lang="es-MX" sz="1200" b="1" i="0" u="none" strike="noStrike" cap="none" spc="0" normalizeH="0" dirty="0">
                          <a:ln>
                            <a:noFill/>
                          </a:ln>
                          <a:solidFill>
                            <a:srgbClr val="002060"/>
                          </a:solidFill>
                          <a:effectLst/>
                          <a:latin typeface="+mj-lt"/>
                          <a:ea typeface="+mn-ea"/>
                          <a:cs typeface="+mn-cs"/>
                          <a:sym typeface="Helvetica Neue"/>
                        </a:rPr>
                        <a:t>
• CI/RIN/00425/06-23 Contra la Salud</a:t>
                      </a:r>
                      <a:endParaRPr kumimoji="0" lang="es-MX" sz="1200" b="0" i="0" u="none" strike="noStrike" cap="none" spc="0" normalizeH="0" dirty="0">
                        <a:ln>
                          <a:noFill/>
                        </a:ln>
                        <a:solidFill>
                          <a:schemeClr val="bg2">
                            <a:lumMod val="10000"/>
                          </a:schemeClr>
                        </a:solidFill>
                        <a:effectLst/>
                        <a:latin typeface="+mj-lt"/>
                        <a:ea typeface="+mn-ea"/>
                        <a:cs typeface="+mn-cs"/>
                        <a:sym typeface="Helvetica Neue"/>
                      </a:endParaRPr>
                    </a:p>
                  </a:txBody>
                  <a:tcPr marL="45720" marR="45720" marT="22860" marB="2286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s-MX"/>
                    </a:p>
                  </a:txBody>
                  <a:tcPr/>
                </a:tc>
                <a:extLst>
                  <a:ext uri="{0D108BD9-81ED-4DB2-BD59-A6C34878D82A}">
                    <a16:rowId xmlns:a16="http://schemas.microsoft.com/office/drawing/2014/main" val="554105151"/>
                  </a:ext>
                </a:extLst>
              </a:tr>
            </a:tbl>
          </a:graphicData>
        </a:graphic>
      </p:graphicFrame>
      <p:pic>
        <p:nvPicPr>
          <p:cNvPr id="13" name="Imagen 12">
            <a:extLst>
              <a:ext uri="{FF2B5EF4-FFF2-40B4-BE49-F238E27FC236}">
                <a16:creationId xmlns:a16="http://schemas.microsoft.com/office/drawing/2014/main" id="{F3E4DB8D-4053-4584-8E16-FD3B10A1C1B7}"/>
              </a:ext>
              <a:ext uri="{C183D7F6-B498-43B3-948B-1728B52AA6E4}">
                <adec:decorative xmlns:adec="http://schemas.microsoft.com/office/drawing/2017/decorative" val="0"/>
              </a:ext>
            </a:extLst>
          </p:cNvPr>
          <p:cNvPicPr>
            <a:picLocks noChangeAspect="1"/>
          </p:cNvPicPr>
          <p:nvPr/>
        </p:nvPicPr>
        <p:blipFill rotWithShape="1">
          <a:blip r:embed="rId4">
            <a:extLst>
              <a:ext uri="{28A0092B-C50C-407E-A947-70E740481C1C}">
                <a14:useLocalDpi xmlns:a14="http://schemas.microsoft.com/office/drawing/2010/main" val="0"/>
              </a:ext>
            </a:extLst>
          </a:blip>
          <a:srcRect l="453" t="15439" r="-453" b="20541"/>
          <a:stretch/>
        </p:blipFill>
        <p:spPr>
          <a:xfrm>
            <a:off x="4517254" y="2781648"/>
            <a:ext cx="1370384" cy="1091957"/>
          </a:xfrm>
          <a:prstGeom prst="rect">
            <a:avLst/>
          </a:prstGeom>
        </p:spPr>
      </p:pic>
      <p:pic>
        <p:nvPicPr>
          <p:cNvPr id="14" name="Imagen 13">
            <a:extLst>
              <a:ext uri="{FF2B5EF4-FFF2-40B4-BE49-F238E27FC236}">
                <a16:creationId xmlns:a16="http://schemas.microsoft.com/office/drawing/2014/main" id="{78AD0D50-CEAB-4875-8FC7-D883FA47718A}"/>
              </a:ext>
              <a:ext uri="{C183D7F6-B498-43B3-948B-1728B52AA6E4}">
                <adec:decorative xmlns:adec="http://schemas.microsoft.com/office/drawing/2017/decorative" val="0"/>
              </a:ext>
            </a:extLst>
          </p:cNvPr>
          <p:cNvPicPr>
            <a:picLocks noChangeAspect="1"/>
          </p:cNvPicPr>
          <p:nvPr/>
        </p:nvPicPr>
        <p:blipFill rotWithShape="1">
          <a:blip r:embed="rId5">
            <a:extLst>
              <a:ext uri="{28A0092B-C50C-407E-A947-70E740481C1C}">
                <a14:useLocalDpi xmlns:a14="http://schemas.microsoft.com/office/drawing/2010/main" val="0"/>
              </a:ext>
            </a:extLst>
          </a:blip>
          <a:srcRect l="14776" b="36330"/>
          <a:stretch/>
        </p:blipFill>
        <p:spPr>
          <a:xfrm>
            <a:off x="6687005" y="2799457"/>
            <a:ext cx="1145979" cy="1091957"/>
          </a:xfrm>
          <a:prstGeom prst="rect">
            <a:avLst/>
          </a:prstGeom>
        </p:spPr>
      </p:pic>
      <p:sp>
        <p:nvSpPr>
          <p:cNvPr id="15" name="CuadroTexto 14">
            <a:extLst>
              <a:ext uri="{FF2B5EF4-FFF2-40B4-BE49-F238E27FC236}">
                <a16:creationId xmlns:a16="http://schemas.microsoft.com/office/drawing/2014/main" id="{892DDAC4-4E3B-42FD-8F24-EB68A85E8C14}"/>
              </a:ext>
              <a:ext uri="{C183D7F6-B498-43B3-948B-1728B52AA6E4}">
                <adec:decorative xmlns:adec="http://schemas.microsoft.com/office/drawing/2017/decorative" val="0"/>
              </a:ext>
            </a:extLst>
          </p:cNvPr>
          <p:cNvSpPr txBox="1"/>
          <p:nvPr/>
        </p:nvSpPr>
        <p:spPr>
          <a:xfrm>
            <a:off x="380448" y="3259050"/>
            <a:ext cx="1746956" cy="577081"/>
          </a:xfrm>
          <a:prstGeom prst="rect">
            <a:avLst/>
          </a:prstGeom>
          <a:noFill/>
          <a:ln w="19050">
            <a:solidFill>
              <a:srgbClr val="002060"/>
            </a:solidFill>
          </a:ln>
        </p:spPr>
        <p:txBody>
          <a:bodyPr wrap="square" rtlCol="0">
            <a:spAutoFit/>
          </a:bodyPr>
          <a:lstStyle/>
          <a:p>
            <a:pPr algn="ctr" defTabSz="1219169" hangingPunct="0"/>
            <a:r>
              <a:rPr lang="es-MX" sz="1050" b="1" kern="0" dirty="0">
                <a:solidFill>
                  <a:srgbClr val="D5D5D5">
                    <a:lumMod val="10000"/>
                  </a:srgbClr>
                </a:solidFill>
                <a:latin typeface="Helvetica Neue"/>
                <a:sym typeface="Helvetica Neue"/>
              </a:rPr>
              <a:t>Fecha de nacimiento: 10/10/1990</a:t>
            </a:r>
          </a:p>
          <a:p>
            <a:pPr algn="ctr" defTabSz="1219169" hangingPunct="0"/>
            <a:r>
              <a:rPr lang="es-MX" sz="1050" b="1" kern="0" dirty="0">
                <a:solidFill>
                  <a:srgbClr val="D5D5D5">
                    <a:lumMod val="10000"/>
                  </a:srgbClr>
                </a:solidFill>
                <a:latin typeface="Helvetica Neue"/>
                <a:sym typeface="Helvetica Neue"/>
              </a:rPr>
              <a:t>35 años</a:t>
            </a:r>
          </a:p>
        </p:txBody>
      </p:sp>
      <p:sp>
        <p:nvSpPr>
          <p:cNvPr id="16" name="CuadroTexto 15">
            <a:extLst>
              <a:ext uri="{FF2B5EF4-FFF2-40B4-BE49-F238E27FC236}">
                <a16:creationId xmlns:a16="http://schemas.microsoft.com/office/drawing/2014/main" id="{36DEA57A-0F2B-4205-9AEA-CDB8A26DFE03}"/>
              </a:ext>
              <a:ext uri="{C183D7F6-B498-43B3-948B-1728B52AA6E4}">
                <adec:decorative xmlns:adec="http://schemas.microsoft.com/office/drawing/2017/decorative" val="0"/>
              </a:ext>
            </a:extLst>
          </p:cNvPr>
          <p:cNvSpPr txBox="1"/>
          <p:nvPr/>
        </p:nvSpPr>
        <p:spPr>
          <a:xfrm>
            <a:off x="4158761" y="4230518"/>
            <a:ext cx="2087370"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200" dirty="0">
                <a:solidFill>
                  <a:srgbClr val="D5D5D5">
                    <a:lumMod val="10000"/>
                  </a:srgbClr>
                </a:solidFill>
                <a:latin typeface="Helvetica Neue"/>
                <a:sym typeface="Helvetica Neue"/>
              </a:rPr>
              <a:t/>
            </a:r>
          </a:p>
        </p:txBody>
      </p:sp>
      <p:sp>
        <p:nvSpPr>
          <p:cNvPr id="17" name="CuadroTexto 16">
            <a:extLst>
              <a:ext uri="{FF2B5EF4-FFF2-40B4-BE49-F238E27FC236}">
                <a16:creationId xmlns:a16="http://schemas.microsoft.com/office/drawing/2014/main" id="{AB2E1746-7AB9-4030-9908-3CB3D9894222}"/>
              </a:ext>
              <a:ext uri="{C183D7F6-B498-43B3-948B-1728B52AA6E4}">
                <adec:decorative xmlns:adec="http://schemas.microsoft.com/office/drawing/2017/decorative" val="0"/>
              </a:ext>
            </a:extLst>
          </p:cNvPr>
          <p:cNvSpPr txBox="1"/>
          <p:nvPr/>
        </p:nvSpPr>
        <p:spPr>
          <a:xfrm>
            <a:off x="6560438" y="4212361"/>
            <a:ext cx="2087370" cy="2359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200" dirty="0">
                <a:solidFill>
                  <a:srgbClr val="D5D5D5">
                    <a:lumMod val="10000"/>
                  </a:srgbClr>
                </a:solidFill>
                <a:latin typeface="Helvetica Neue"/>
                <a:sym typeface="Helvetica Neue"/>
              </a:rPr>
              <a:t>[V2]</a:t>
            </a:r>
          </a:p>
        </p:txBody>
      </p:sp>
      <p:sp>
        <p:nvSpPr>
          <p:cNvPr id="10" name="Rectángulo: esquinas redondeadas 9">
            <a:extLst>
              <a:ext uri="{FF2B5EF4-FFF2-40B4-BE49-F238E27FC236}">
                <a16:creationId xmlns:a16="http://schemas.microsoft.com/office/drawing/2014/main" id="{A867825B-864F-4860-8146-FF4726E50C0C}"/>
              </a:ext>
              <a:ext uri="{C183D7F6-B498-43B3-948B-1728B52AA6E4}">
                <adec:decorative xmlns:adec="http://schemas.microsoft.com/office/drawing/2017/decorative" val="0"/>
              </a:ext>
            </a:extLst>
          </p:cNvPr>
          <p:cNvSpPr/>
          <p:nvPr/>
        </p:nvSpPr>
        <p:spPr>
          <a:xfrm>
            <a:off x="375030" y="3981262"/>
            <a:ext cx="1746956" cy="431324"/>
          </a:xfrm>
          <a:prstGeom prst="roundRect">
            <a:avLst/>
          </a:prstGeom>
          <a:noFill/>
          <a:ln w="19050" cap="flat">
            <a:solidFill>
              <a:srgbClr val="00206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s-MX" sz="1050" b="1" kern="0" dirty="0">
                <a:solidFill>
                  <a:srgbClr val="FF0000"/>
                </a:solidFill>
                <a:latin typeface="Helvetica Neue"/>
                <a:sym typeface="Helvetica Neue"/>
              </a:rPr>
              <a:t>CJNG</a:t>
            </a:r>
          </a:p>
          <a:p>
            <a:pPr algn="ctr" defTabSz="1219169" hangingPunct="0"/>
            <a:r>
              <a:rPr lang="es-MX" sz="1050" b="1" kern="0" dirty="0">
                <a:solidFill>
                  <a:srgbClr val="D5D5D5">
                    <a:lumMod val="10000"/>
                  </a:srgbClr>
                </a:solidFill>
                <a:latin typeface="Helvetica Neue"/>
                <a:sym typeface="Helvetica Neue"/>
              </a:rPr>
              <a:t>Función: EJECUTOR </a:t>
            </a:r>
          </a:p>
        </p:txBody>
      </p:sp>
    </p:spTree>
    <p:extLst>
      <p:ext uri="{BB962C8B-B14F-4D97-AF65-F5344CB8AC3E}">
        <p14:creationId xmlns:p14="http://schemas.microsoft.com/office/powerpoint/2010/main" val="237609520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TotalTime>
  <Words>62</Words>
  <Application>Microsoft Office PowerPoint</Application>
  <PresentationFormat>Panorámica</PresentationFormat>
  <Paragraphs>22</Paragraphs>
  <Slides>1</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vt:i4>
      </vt:variant>
    </vt:vector>
  </HeadingPairs>
  <TitlesOfParts>
    <vt:vector size="7" baseType="lpstr">
      <vt:lpstr>Arial</vt:lpstr>
      <vt:lpstr>Calibri</vt:lpstr>
      <vt:lpstr>Calibri Light</vt:lpstr>
      <vt:lpstr>Helvetica Neue</vt:lpstr>
      <vt:lpstr>Helvetica Neue Medium</vt:lpstr>
      <vt:lpstr>Tema de Office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 Leonardo Adrian De Lira Castanon</dc:creator>
  <cp:lastModifiedBy>Usuario Leonardo Adrian De Lira Castanon</cp:lastModifiedBy>
  <cp:revision>8</cp:revision>
  <dcterms:created xsi:type="dcterms:W3CDTF">2025-11-12T16:18:29Z</dcterms:created>
  <dcterms:modified xsi:type="dcterms:W3CDTF">2025-11-12T19:49:51Z</dcterms:modified>
</cp:coreProperties>
</file>