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2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68E0D-0952-490C-984D-615FC13D3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8042A2-A594-4576-8419-AA38E3F95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E9F637-BE67-4214-9CD9-9B7FB99A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D56C0-5552-487B-A6EB-780E4AF5235B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09747B-46B2-42F8-8EAD-E47BA1771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24D85E-9A27-4ADD-BEA9-31FD7E5F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C1EA-DA40-4D71-81B5-192D430DA67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3984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36BC4-D232-4B1E-B70D-D91B80D54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411C83-320C-42BA-98AE-4F4C7BC74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ECA821-FBD6-4501-BBC5-3ED79AE9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D56C0-5552-487B-A6EB-780E4AF5235B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88DDD8-2BC1-4A85-8104-AEADC9BEA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056E28-5F22-4571-BACF-E2825ECB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C1EA-DA40-4D71-81B5-192D430DA67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6898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DB471-9543-4DAB-A219-1659491A9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588458-4650-4415-A60D-4DE68764E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36DAA6-920D-44DD-88B2-9250DB8C9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D56C0-5552-487B-A6EB-780E4AF5235B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7011E6-707F-44F2-A6BA-B99BFE14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3F31E6-90AB-49BC-B85C-E95CC459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C1EA-DA40-4D71-81B5-192D430DA67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326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98501-CC3F-4EB2-B6A2-9671F3A9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F5ABAD-880A-4399-A013-CF87B862A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00D460-9968-4966-84B6-4496DA2EA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2F7D60-FE8E-45A1-BBC8-D8252D14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D56C0-5552-487B-A6EB-780E4AF5235B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38980B-8E3F-4FCC-95D7-0FCF85B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9CF3F2-7270-42CA-9898-48BB8AA9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C1EA-DA40-4D71-81B5-192D430DA67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675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33742-F5ED-47CB-82ED-F2FA02813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B95FE3-EFDF-4B2F-AE71-291C42693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2A4686-ED69-40C8-AF49-5975F8402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E2B688-8242-4C9E-B392-98F7D90D9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D7347F0-1785-46BF-9003-D48CB6ADA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5354438-23F5-4F16-B30B-597ED06EE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D56C0-5552-487B-A6EB-780E4AF5235B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54B92E-7740-43A3-B3E2-DA805A3A2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6CC8A04-EEAE-4D7C-AD8F-A16C6A8D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C1EA-DA40-4D71-81B5-192D430DA67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632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A1AF0-5C3C-4D06-BA20-374C22F36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73F745-E61E-463E-89A3-C806F2C1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D56C0-5552-487B-A6EB-780E4AF5235B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61DA35-84CC-4522-A154-00A10016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0060CE3-1929-4626-8A34-34D5A7CA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C1EA-DA40-4D71-81B5-192D430DA67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610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4F428D5-8AC1-4BD0-8B52-9765A9AAD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D56C0-5552-487B-A6EB-780E4AF5235B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DAFFA5-08C3-4519-88B2-5E4FDBD7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18C6C0-E831-4510-AC77-B09CA2A1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C1EA-DA40-4D71-81B5-192D430DA67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3965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C4ADD-FD2A-4E50-AAB9-D306CDA5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6ED3BE-C3F9-4F5E-AFE4-7A22EFD9B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A87FEC-F393-45FA-BA08-8DAD4C59F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E0BEE5-AE7B-487D-B8B2-D45BEA31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D56C0-5552-487B-A6EB-780E4AF5235B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C24C9B-BE03-4425-9734-DDCF4B2DB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D77873-C295-4051-9470-8B7F5E71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C1EA-DA40-4D71-81B5-192D430DA67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2332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EE650-E899-439F-9C8A-57DA0CEFE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5040B0-6DCA-46D1-8002-7552E90BC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9CD1CE-AAEC-4A26-8E1D-026D6D474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882B04-48E2-4A50-A4A7-F6C8DC0E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D56C0-5552-487B-A6EB-780E4AF5235B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B75A92-764D-4B80-8935-487723144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739F9A-827B-432C-A8B7-3FBCA51C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C1EA-DA40-4D71-81B5-192D430DA67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0328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992DC-0D4C-4DC9-834A-52EB8DA8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423FEE-537D-46C8-8F78-F48C270ED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AB50E2-4CAA-4A10-94D4-757207C2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D56C0-5552-487B-A6EB-780E4AF5235B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2ADA2C-E08B-417F-8582-73BEE797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03DE89-99D0-42F4-A8FE-C3BFCECBA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C1EA-DA40-4D71-81B5-192D430DA67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890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CE10DB-6392-4A4A-89B7-0D3A6D8EC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56D1C7-8969-4AD4-B9D4-4E4715CB3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A8914C-A513-49B7-846E-3AC6B88E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D56C0-5552-487B-A6EB-780E4AF5235B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A28E0B-157E-4704-8194-F6AA2729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685967-B4FB-423A-844A-AB680385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C1EA-DA40-4D71-81B5-192D430DA67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954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E527713-1033-4C8F-8674-B694EB20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57455B-7BAF-4747-AC77-77F471C98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122BEC-5132-4A78-8FFB-8199E6A90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D56C0-5552-487B-A6EB-780E4AF5235B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D83E80-00DF-42DA-8262-0679164F7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DF30B6-99FF-4599-BAC5-769C012D5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5C1EA-DA40-4D71-81B5-192D430DA67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1869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[FONDO]" descr="[FONDO]">
            <a:extLst>
              <a:ext uri="{FF2B5EF4-FFF2-40B4-BE49-F238E27FC236}">
                <a16:creationId xmlns:a16="http://schemas.microsoft.com/office/drawing/2014/main" id="{550B94DC-8083-409B-A0AE-8E5F92888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4"/>
            <a:ext cx="12192000" cy="6838731"/>
          </a:xfrm>
          <a:prstGeom prst="rect">
            <a:avLst/>
          </a:prstGeom>
        </p:spPr>
      </p:pic>
      <p:pic>
        <p:nvPicPr>
          <p:cNvPr id="6" name="[FP]" descr="[FP]">
            <a:extLst>
              <a:ext uri="{FF2B5EF4-FFF2-40B4-BE49-F238E27FC236}">
                <a16:creationId xmlns:a16="http://schemas.microsoft.com/office/drawing/2014/main" id="{96BB27C3-171F-415B-955E-00B05E76B93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21" r="5707" b="43686"/>
          <a:stretch/>
        </p:blipFill>
        <p:spPr>
          <a:xfrm>
            <a:off x="375030" y="872451"/>
            <a:ext cx="1746956" cy="1783408"/>
          </a:xfrm>
          <a:prstGeom prst="rect">
            <a:avLst/>
          </a:prstGeom>
          <a:ln w="1905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D74CD59-3E7C-4914-8600-4A1E854427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75030" y="2676896"/>
            <a:ext cx="1746956" cy="40011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1219169" hangingPunct="0"/>
            <a:r>
              <a:rPr lang="es-MX" sz="1000" b="1" kern="0" dirty="0">
                <a:solidFill>
                  <a:srgbClr val="D5D5D5">
                    <a:lumMod val="10000"/>
                  </a:srgbClr>
                </a:solidFill>
                <a:latin typeface="Helvetica Neue"/>
                <a:sym typeface="Helvetica Neue"/>
              </a:rPr>
              <a:t>[C1]</a:t>
            </a:r>
          </a:p>
          <a:p>
            <a:pPr algn="ctr" defTabSz="1219169" hangingPunct="0"/>
            <a:r>
              <a:rPr lang="es-MX" sz="1000" b="1" kern="0" dirty="0">
                <a:solidFill>
                  <a:srgbClr val="D5D5D5">
                    <a:lumMod val="10000"/>
                  </a:srgbClr>
                </a:solidFill>
                <a:latin typeface="Helvetica Neue"/>
                <a:sym typeface="Helvetica Neue"/>
              </a:rPr>
              <a:t>[C10]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0351AD1-E07B-4A71-9B0F-C13A755BC7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35322" y="4736644"/>
            <a:ext cx="1426372" cy="2359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algn="ctr" defTabSz="1219169" hangingPunct="0"/>
            <a:r>
              <a:rPr lang="es-MX" sz="1200" b="1" kern="0" dirty="0">
                <a:solidFill>
                  <a:srgbClr val="D5D5D5">
                    <a:lumMod val="10000"/>
                  </a:srgbClr>
                </a:solidFill>
                <a:latin typeface="Helvetica Neue"/>
                <a:sym typeface="Helvetica Neue"/>
              </a:rPr>
              <a:t>Objetivo detenido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CBA5AE1-928F-4078-8BDA-87D77C1A91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75030" y="4690041"/>
            <a:ext cx="1746956" cy="329168"/>
          </a:xfrm>
          <a:prstGeom prst="roundRect">
            <a:avLst/>
          </a:prstGeom>
          <a:noFill/>
          <a:ln w="19050" cap="flat">
            <a:solidFill>
              <a:srgbClr val="00206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algn="ctr" defTabSz="412750" hangingPunct="0"/>
            <a:endParaRPr lang="es-MX"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7D086326-9674-4613-A1F6-30D70D7262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756650"/>
              </p:ext>
            </p:extLst>
          </p:nvPr>
        </p:nvGraphicFramePr>
        <p:xfrm>
          <a:off x="2342571" y="872451"/>
          <a:ext cx="9255737" cy="51588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1946">
                  <a:extLst>
                    <a:ext uri="{9D8B030D-6E8A-4147-A177-3AD203B41FA5}">
                      <a16:colId xmlns:a16="http://schemas.microsoft.com/office/drawing/2014/main" val="84531247"/>
                    </a:ext>
                  </a:extLst>
                </a:gridCol>
                <a:gridCol w="4416776">
                  <a:extLst>
                    <a:ext uri="{9D8B030D-6E8A-4147-A177-3AD203B41FA5}">
                      <a16:colId xmlns:a16="http://schemas.microsoft.com/office/drawing/2014/main" val="2002464751"/>
                    </a:ext>
                  </a:extLst>
                </a:gridCol>
                <a:gridCol w="3017015">
                  <a:extLst>
                    <a:ext uri="{9D8B030D-6E8A-4147-A177-3AD203B41FA5}">
                      <a16:colId xmlns:a16="http://schemas.microsoft.com/office/drawing/2014/main" val="3567498210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kumimoji="0" lang="es-MX" sz="1200" b="1" i="0" u="none" strike="noStrike" cap="none" spc="0" normalizeH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Helvetica Neue"/>
                        </a:rPr>
                        <a:t>Antecedentes </a:t>
                      </a:r>
                    </a:p>
                  </a:txBody>
                  <a:tcPr marL="45720" marR="45720" marT="22860" marB="2286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kumimoji="0" lang="es-419" sz="1200" b="0" i="0" u="none" strike="noStrike" cap="none" spc="0" normalizeH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Helvetica Neue"/>
                        </a:rPr>
                        <a:t>[C4]</a:t>
                      </a:r>
                      <a:endParaRPr kumimoji="0" lang="es-MX" sz="1200" b="0" i="0" u="none" strike="noStrike" cap="none" spc="0" normalizeH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marL="45720" marR="45720" marT="22860" marB="22860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6072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kumimoji="0" lang="es-MX" sz="1200" b="1" i="0" u="none" strike="noStrike" cap="none" spc="0" normalizeH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Helvetica Neue"/>
                        </a:rPr>
                        <a:t>Órdenes de aprehensión</a:t>
                      </a:r>
                    </a:p>
                  </a:txBody>
                  <a:tcPr marL="45720" marR="45720" marT="22860" marB="2286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kumimoji="0" lang="es-419" sz="1200" b="0" i="0" u="none" strike="noStrike" cap="none" spc="0" normalizeH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Helvetica Neue"/>
                        </a:rPr>
                        <a:t>[C6]</a:t>
                      </a:r>
                      <a:endParaRPr kumimoji="0" lang="es-MX" sz="1200" b="0" i="0" u="none" strike="noStrike" cap="none" spc="0" normalizeH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marL="45720" marR="45720" marT="22860" marB="22860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757136"/>
                  </a:ext>
                </a:extLst>
              </a:tr>
              <a:tr h="1867017">
                <a:tc>
                  <a:txBody>
                    <a:bodyPr/>
                    <a:lstStyle/>
                    <a:p>
                      <a:r>
                        <a:rPr kumimoji="0" lang="es-MX" sz="1200" b="1" i="0" u="none" strike="noStrike" cap="none" spc="0" normalizeH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Helvetica Neue"/>
                        </a:rPr>
                        <a:t>Asuntos relacionados </a:t>
                      </a:r>
                    </a:p>
                  </a:txBody>
                  <a:tcPr marL="45720" marR="45720" marT="22860" marB="2286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kumimoji="0" lang="es-MX" sz="1200" b="1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Helvetica Neue"/>
                        </a:rPr>
                        <a:t>[C9]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endParaRPr kumimoji="0" lang="es-MX" sz="1200" b="1" i="0" u="none" strike="noStrike" kern="1200" cap="none" spc="0" normalizeH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  <a:cs typeface="+mn-cs"/>
                        <a:sym typeface="Helvetica Neue"/>
                      </a:endParaRP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endParaRPr kumimoji="0" lang="es-MX" sz="1200" b="1" i="0" u="none" strike="noStrike" kern="1200" cap="none" spc="0" normalizeH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  <a:cs typeface="+mn-cs"/>
                        <a:sym typeface="Helvetica Neue"/>
                      </a:endParaRP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endParaRPr kumimoji="0" lang="es-MX" sz="1200" b="1" i="0" u="none" strike="noStrike" kern="1200" cap="none" spc="0" normalizeH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  <a:cs typeface="+mn-cs"/>
                        <a:sym typeface="Helvetica Neue"/>
                      </a:endParaRP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endParaRPr kumimoji="0" lang="es-MX" sz="1200" b="1" i="0" u="none" strike="noStrike" kern="1200" cap="none" spc="0" normalizeH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marL="45720" marR="45720" marT="22860" marB="22860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s-MX" sz="1200" b="0" i="0" u="none" strike="noStrike" kern="1200" cap="none" spc="0" baseline="0">
                          <a:solidFill>
                            <a:schemeClr val="bg2">
                              <a:lumMod val="10000"/>
                            </a:schemeClr>
                          </a:solidFill>
                          <a:uFillTx/>
                          <a:latin typeface="+mj-lt"/>
                          <a:ea typeface="+mn-ea"/>
                          <a:cs typeface="+mn-cs"/>
                          <a:sym typeface="Helvetica Neue"/>
                        </a:rPr>
                        <a:t>[C13]</a:t>
                      </a:r>
                      <a:endParaRPr lang="es-MX" sz="1200" b="0" i="0" u="none" strike="noStrike" kern="1200" cap="none" spc="0" baseline="0" dirty="0">
                        <a:solidFill>
                          <a:schemeClr val="bg2">
                            <a:lumMod val="10000"/>
                          </a:schemeClr>
                        </a:solidFill>
                        <a:uFillTx/>
                        <a:latin typeface="+mj-lt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marL="45720" marR="45720" marT="22860" marB="22860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775078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kumimoji="0" lang="es-MX" sz="1200" b="1" i="0" u="none" strike="noStrike" cap="none" spc="0" normalizeH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Helvetica Neue"/>
                        </a:rPr>
                        <a:t>Sentencia</a:t>
                      </a:r>
                    </a:p>
                  </a:txBody>
                  <a:tcPr marL="45720" marR="45720" marT="22860" marB="2286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[C7], [C8]</a:t>
                      </a:r>
                    </a:p>
                  </a:txBody>
                  <a:tcPr marL="45720" marR="45720" marT="22860" marB="22860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621528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kumimoji="0" lang="es-MX" sz="1200" b="1" i="0" u="none" strike="noStrike" cap="none" spc="0" normalizeH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Helvetica Neue"/>
                        </a:rPr>
                        <a:t>Estatus jurídico</a:t>
                      </a:r>
                    </a:p>
                  </a:txBody>
                  <a:tcPr marL="45720" marR="45720" marT="22860" marB="2286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just"/>
                      <a:r>
                        <a:rPr kumimoji="0" lang="es-MX" sz="1200" b="1" i="0" u="none" strike="noStrike" cap="none" spc="0" normalizeH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Helvetica Neue"/>
                        </a:rPr>
                        <a:t>[C5]</a:t>
                      </a:r>
                      <a:endParaRPr kumimoji="0" lang="es-MX" sz="1200" b="0" i="0" u="none" strike="noStrike" cap="none" spc="0" normalizeH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marL="45720" marR="45720" marT="22860" marB="22860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105151"/>
                  </a:ext>
                </a:extLst>
              </a:tr>
            </a:tbl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F3E4DB8D-4053-4584-8E16-FD3B10A1C1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" t="15439" r="-453" b="20541"/>
          <a:stretch/>
        </p:blipFill>
        <p:spPr>
          <a:xfrm>
            <a:off x="4517254" y="2781648"/>
            <a:ext cx="1370384" cy="109195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8AD0D50-CEAB-4875-8FC7-D883FA47718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6" b="36330"/>
          <a:stretch/>
        </p:blipFill>
        <p:spPr>
          <a:xfrm>
            <a:off x="6687005" y="2799457"/>
            <a:ext cx="1145979" cy="1091957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92DDAC4-4E3B-42FD-8F24-EB68A85E8C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80448" y="3259050"/>
            <a:ext cx="1746956" cy="57708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1219169" hangingPunct="0"/>
            <a:r>
              <a:rPr lang="es-MX" sz="1050" b="1" kern="0" dirty="0">
                <a:solidFill>
                  <a:srgbClr val="D5D5D5">
                    <a:lumMod val="10000"/>
                  </a:srgbClr>
                </a:solidFill>
                <a:latin typeface="Helvetica Neue"/>
                <a:sym typeface="Helvetica Neue"/>
              </a:rPr>
              <a:t>Fecha de nacimiento: [C11]</a:t>
            </a:r>
          </a:p>
          <a:p>
            <a:pPr algn="ctr" defTabSz="1219169" hangingPunct="0"/>
            <a:r>
              <a:rPr lang="es-MX" sz="1050" b="1" kern="0" dirty="0">
                <a:solidFill>
                  <a:srgbClr val="D5D5D5">
                    <a:lumMod val="10000"/>
                  </a:srgbClr>
                </a:solidFill>
                <a:latin typeface="Helvetica Neue"/>
                <a:sym typeface="Helvetica Neue"/>
              </a:rPr>
              <a:t>[C12]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6DEA57A-0F2B-4205-9AEA-CDB8A26DFE0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158761" y="4230518"/>
            <a:ext cx="2087370" cy="2359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algn="ctr" defTabSz="1219169" hangingPunct="0"/>
            <a:r>
              <a:rPr lang="es-MX" sz="1200" dirty="0">
                <a:solidFill>
                  <a:srgbClr val="D5D5D5">
                    <a:lumMod val="10000"/>
                  </a:srgbClr>
                </a:solidFill>
                <a:latin typeface="Helvetica Neue"/>
                <a:sym typeface="Helvetica Neue"/>
              </a:rPr>
              <a:t>[V1]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B2E1746-7AB9-4030-9908-3CB3D98942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560438" y="4212361"/>
            <a:ext cx="2087370" cy="2359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algn="ctr" defTabSz="1219169" hangingPunct="0"/>
            <a:r>
              <a:rPr lang="es-MX" sz="1200" dirty="0">
                <a:solidFill>
                  <a:srgbClr val="D5D5D5">
                    <a:lumMod val="10000"/>
                  </a:srgbClr>
                </a:solidFill>
                <a:latin typeface="Helvetica Neue"/>
                <a:sym typeface="Helvetica Neue"/>
              </a:rPr>
              <a:t>[V2]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867825B-864F-4860-8146-FF4726E50C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75030" y="3981262"/>
            <a:ext cx="1746956" cy="431324"/>
          </a:xfrm>
          <a:prstGeom prst="roundRect">
            <a:avLst/>
          </a:prstGeom>
          <a:noFill/>
          <a:ln w="19050" cap="flat">
            <a:solidFill>
              <a:srgbClr val="00206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algn="ctr" defTabSz="1219169" hangingPunct="0"/>
            <a:r>
              <a:rPr lang="es-MX" sz="1050" b="1" kern="0" dirty="0">
                <a:solidFill>
                  <a:srgbClr val="FF0000"/>
                </a:solidFill>
                <a:latin typeface="Helvetica Neue"/>
                <a:sym typeface="Helvetica Neue"/>
              </a:rPr>
              <a:t>[C2]</a:t>
            </a:r>
          </a:p>
          <a:p>
            <a:pPr algn="ctr" defTabSz="1219169" hangingPunct="0"/>
            <a:r>
              <a:rPr lang="es-MX" sz="1050" b="1" kern="0" dirty="0">
                <a:solidFill>
                  <a:srgbClr val="D5D5D5">
                    <a:lumMod val="10000"/>
                  </a:srgbClr>
                </a:solidFill>
                <a:latin typeface="Helvetica Neue"/>
                <a:sym typeface="Helvetica Neue"/>
              </a:rPr>
              <a:t>Función: [C3] </a:t>
            </a:r>
          </a:p>
        </p:txBody>
      </p:sp>
    </p:spTree>
    <p:extLst>
      <p:ext uri="{BB962C8B-B14F-4D97-AF65-F5344CB8AC3E}">
        <p14:creationId xmlns:p14="http://schemas.microsoft.com/office/powerpoint/2010/main" val="2376095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62</Words>
  <Application>Microsoft Office PowerPoint</Application>
  <PresentationFormat>Panorámica</PresentationFormat>
  <Paragraphs>22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Helvetica Neue Medium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Leonardo Adrian De Lira Castanon</dc:creator>
  <cp:lastModifiedBy>Usuario Leonardo Adrian De Lira Castanon</cp:lastModifiedBy>
  <cp:revision>8</cp:revision>
  <dcterms:created xsi:type="dcterms:W3CDTF">2025-11-12T16:18:29Z</dcterms:created>
  <dcterms:modified xsi:type="dcterms:W3CDTF">2025-11-12T19:49:51Z</dcterms:modified>
</cp:coreProperties>
</file>